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5C9A2-EA98-4F97-8554-CD86D18C5FD6}" type="datetimeFigureOut">
              <a:rPr lang="zh-CN" altLang="en-US" smtClean="0"/>
              <a:t>2018/10/29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2C2BC-3008-42EB-85B4-7EC21B87C4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063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86878-F5D5-46E9-8715-AE0D16655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4241BE-1066-41DD-B4C8-F453F594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3F755B-50CD-42F7-A45D-96125CE30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D930-94DF-443F-A223-BB2B76DF07D2}" type="datetimeFigureOut">
              <a:rPr lang="zh-CN" altLang="en-US" smtClean="0"/>
              <a:t>2018/10/29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8ECA7-2496-4566-BB38-C9C0FB2DF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71470E-8B2E-469B-9D66-DFD371F4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0079B-BDB5-41BD-BBE7-059DC3E05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9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371F2-0EB3-437F-81D2-325FB90A1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DFBAC6-0766-4481-B103-839CA9EE7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560F1C-5F16-4E40-8A33-BFE83075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D930-94DF-443F-A223-BB2B76DF07D2}" type="datetimeFigureOut">
              <a:rPr lang="zh-CN" altLang="en-US" smtClean="0"/>
              <a:t>2018/10/29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1C1295-4ACF-4C8B-8817-DDBF76953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2C3852-C104-43EA-9F93-B8418720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0079B-BDB5-41BD-BBE7-059DC3E05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2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C49E1-0A64-4062-9A6E-6193F422B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E98540-0B69-4BEF-8F36-7570624CF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17611-C837-472D-87A3-D5BB9513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D930-94DF-443F-A223-BB2B76DF07D2}" type="datetimeFigureOut">
              <a:rPr lang="zh-CN" altLang="en-US" smtClean="0"/>
              <a:t>2018/10/29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E30410-1CDF-4C05-844C-434FCD62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563F9D-4364-4427-8A10-3BDA5DAA0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0079B-BDB5-41BD-BBE7-059DC3E05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08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2BACF-ACAA-49C9-8605-7DD10C15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4E6093-3267-4B77-AE0D-F0B339FD5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0E9CDA-CABE-401F-A79D-B5C5A3825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6DDE9F-6ECD-4F41-BBA4-D23C3836F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D930-94DF-443F-A223-BB2B76DF07D2}" type="datetimeFigureOut">
              <a:rPr lang="zh-CN" altLang="en-US" smtClean="0"/>
              <a:t>2018/10/29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5EB65B-4E81-4FE0-ACE6-FD7BF672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D328F9-F552-4DB1-8167-26551B5C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0079B-BDB5-41BD-BBE7-059DC3E05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14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9FA07-485A-4A44-88C0-20ECAC22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744C60-436C-4AB6-9E69-D22D058EB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12B447-D2B7-48C2-9E57-4F9F3BC90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D7E7B0-E37D-42E1-BC3E-1CF198DA8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F5DA8C-F825-41C3-BD9F-8C4019DA88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021287-6EBF-4E2D-AE5B-1A33A302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D930-94DF-443F-A223-BB2B76DF07D2}" type="datetimeFigureOut">
              <a:rPr lang="zh-CN" altLang="en-US" smtClean="0"/>
              <a:t>2018/10/29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8B0306-9719-4528-AB97-08D688522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5990E3-1999-4D46-AB15-3B9C07C7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0079B-BDB5-41BD-BBE7-059DC3E05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24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3A8CD-AD5C-4C6C-A4E4-C4B75FC5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283755-B591-4E65-B7EC-C0373EADB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D930-94DF-443F-A223-BB2B76DF07D2}" type="datetimeFigureOut">
              <a:rPr lang="zh-CN" altLang="en-US" smtClean="0"/>
              <a:t>2018/10/29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DC960C-7FB4-47A2-A39B-77F35C94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0EB70F-425F-41CB-A7A9-4A73B4577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0079B-BDB5-41BD-BBE7-059DC3E05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56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82DDC7-1C7D-49FC-9C7C-04897A311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D930-94DF-443F-A223-BB2B76DF07D2}" type="datetimeFigureOut">
              <a:rPr lang="zh-CN" altLang="en-US" smtClean="0"/>
              <a:t>2018/10/29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ECDF4D-D9DC-4C45-9528-730372D4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007A9B-1657-4030-8952-488D9AE0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0079B-BDB5-41BD-BBE7-059DC3E05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734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1B35E-E0A0-41F7-88EF-559B77DB1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73FA12-13A2-4859-BB68-0E451720F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0E3E18-9ADA-4C7D-919C-086D6653C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189A24-9921-4D7B-B910-B3EFE1284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D930-94DF-443F-A223-BB2B76DF07D2}" type="datetimeFigureOut">
              <a:rPr lang="zh-CN" altLang="en-US" smtClean="0"/>
              <a:t>2018/10/29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416D07-25F0-4BC6-8442-B615D3BD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2EA147-1EFC-43D5-A5BD-308150722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0079B-BDB5-41BD-BBE7-059DC3E05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12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7D613-08CB-4F10-A42D-B8DFB67B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E6C5F2-F14F-456B-B732-A0D9C00BE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4CD56B-9100-4305-A709-5EF9618EC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44A4D8-D6D8-41B9-95D9-61904E092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D930-94DF-443F-A223-BB2B76DF07D2}" type="datetimeFigureOut">
              <a:rPr lang="zh-CN" altLang="en-US" smtClean="0"/>
              <a:t>2018/10/29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BC8F1D-8144-434C-A533-DDAFD1C1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B5E267-4A6A-4CA9-BF85-39E4734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0079B-BDB5-41BD-BBE7-059DC3E05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607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E8357-4B5E-455E-BFC1-7471CBC0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52018C-9295-49A0-B36E-110F17618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9DA9B-FA19-4291-8FE9-7125CD79C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D930-94DF-443F-A223-BB2B76DF07D2}" type="datetimeFigureOut">
              <a:rPr lang="zh-CN" altLang="en-US" smtClean="0"/>
              <a:t>2018/10/29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5AD87C-1E74-42F0-BD20-2D134BE13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5D936D-FB94-4B44-8B09-121C3234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0079B-BDB5-41BD-BBE7-059DC3E05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28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F3A42D-1CA3-41D7-ADD9-CF1C00A8F5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B2E1F7-8D60-46C1-A54B-C85E8D878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D79D90-5170-4A91-8221-CD779B80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D930-94DF-443F-A223-BB2B76DF07D2}" type="datetimeFigureOut">
              <a:rPr lang="zh-CN" altLang="en-US" smtClean="0"/>
              <a:t>2018/10/29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15066C-44B9-4339-86A4-AA7A0522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0BF6F3-FCED-4849-9B3D-CCE6A9DD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0079B-BDB5-41BD-BBE7-059DC3E05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169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315F7B4-264E-47DB-873E-53C59537F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F9A15C-9D43-42CB-9756-2BEE14594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1C85B5-05A3-4CA5-ADBA-9DB22D37A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DD930-94DF-443F-A223-BB2B76DF07D2}" type="datetimeFigureOut">
              <a:rPr lang="zh-CN" altLang="en-US" smtClean="0"/>
              <a:t>2018/10/29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6D5F1C-2C32-4391-A423-5140DBAC4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F37E70-00D2-48D7-9E2F-2A4C24BA2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0079B-BDB5-41BD-BBE7-059DC3E05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75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://127.0.0.1:8080&#12290;localhost&#30340;I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:8080&#65292;localhos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85321A52-88A6-47B6-816C-844DD84AB852}"/>
              </a:ext>
            </a:extLst>
          </p:cNvPr>
          <p:cNvSpPr txBox="1"/>
          <p:nvPr/>
        </p:nvSpPr>
        <p:spPr>
          <a:xfrm>
            <a:off x="538113" y="196783"/>
            <a:ext cx="4755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1. </a:t>
            </a:r>
            <a:r>
              <a:rPr lang="zh-CN" altLang="en-US" sz="1600" dirty="0"/>
              <a:t>使用</a:t>
            </a:r>
            <a:r>
              <a:rPr lang="en-US" altLang="zh-CN" sz="1600" dirty="0"/>
              <a:t>Node.js</a:t>
            </a:r>
            <a:r>
              <a:rPr lang="zh-CN" altLang="en-US" sz="1600" dirty="0"/>
              <a:t>搭建</a:t>
            </a:r>
            <a:r>
              <a:rPr lang="en-US" altLang="zh-CN" sz="1600" dirty="0"/>
              <a:t>Http</a:t>
            </a:r>
            <a:r>
              <a:rPr lang="zh-CN" altLang="en-US" sz="1600" dirty="0"/>
              <a:t>服务器，并人工控制吞吐量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C6A0BB-54A4-475A-BB36-18EED8A29342}"/>
              </a:ext>
            </a:extLst>
          </p:cNvPr>
          <p:cNvSpPr txBox="1"/>
          <p:nvPr/>
        </p:nvSpPr>
        <p:spPr>
          <a:xfrm>
            <a:off x="538114" y="663802"/>
            <a:ext cx="113152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Node.js</a:t>
            </a:r>
            <a:r>
              <a:rPr lang="zh-CN" altLang="en-US" sz="1400" dirty="0"/>
              <a:t>是一种运行环境，可以使</a:t>
            </a:r>
            <a:r>
              <a:rPr lang="en-US" altLang="zh-CN" sz="1400" dirty="0" err="1"/>
              <a:t>javascript</a:t>
            </a:r>
            <a:r>
              <a:rPr lang="zh-CN" altLang="en-US" sz="1400" dirty="0"/>
              <a:t>代码能够在非浏览器环境下运行，同时有一些特殊的内置函数、方法等。现在这个服务器的搭建是使用了</a:t>
            </a:r>
            <a:r>
              <a:rPr lang="en-US" altLang="zh-CN" sz="1400" dirty="0"/>
              <a:t>node.js</a:t>
            </a:r>
            <a:r>
              <a:rPr lang="zh-CN" altLang="en-US" sz="1400" dirty="0"/>
              <a:t>提供的</a:t>
            </a:r>
            <a:r>
              <a:rPr lang="en-US" altLang="zh-CN" sz="1400" dirty="0"/>
              <a:t>http API</a:t>
            </a:r>
            <a:r>
              <a:rPr lang="zh-CN" altLang="en-US" sz="1400" dirty="0"/>
              <a:t>，能够通过创建一个</a:t>
            </a:r>
            <a:r>
              <a:rPr lang="en-US" altLang="zh-CN" sz="1400" dirty="0"/>
              <a:t>http</a:t>
            </a:r>
            <a:r>
              <a:rPr lang="zh-CN" altLang="en-US" sz="1400" dirty="0"/>
              <a:t>对象，来处理网络协议、</a:t>
            </a:r>
            <a:r>
              <a:rPr lang="en-US" altLang="zh-CN" sz="1400" dirty="0"/>
              <a:t>request</a:t>
            </a:r>
            <a:r>
              <a:rPr lang="zh-CN" altLang="en-US" sz="1400" dirty="0"/>
              <a:t>解析以及</a:t>
            </a:r>
            <a:r>
              <a:rPr lang="en-US" altLang="zh-CN" sz="1400" dirty="0"/>
              <a:t>response</a:t>
            </a:r>
            <a:r>
              <a:rPr lang="zh-CN" altLang="en-US" sz="1400" dirty="0"/>
              <a:t>响应等。由于这个</a:t>
            </a:r>
            <a:r>
              <a:rPr lang="en-US" altLang="zh-CN" sz="1400" dirty="0"/>
              <a:t>http</a:t>
            </a:r>
            <a:r>
              <a:rPr lang="zh-CN" altLang="en-US" sz="1400" dirty="0"/>
              <a:t>对象可以直接操控返回</a:t>
            </a:r>
            <a:r>
              <a:rPr lang="en-US" altLang="zh-CN" sz="1400" dirty="0"/>
              <a:t>response</a:t>
            </a:r>
            <a:r>
              <a:rPr lang="zh-CN" altLang="en-US" sz="1400" dirty="0"/>
              <a:t>，通过控制返回</a:t>
            </a:r>
            <a:r>
              <a:rPr lang="en-US" altLang="zh-CN" sz="1400" dirty="0"/>
              <a:t>response</a:t>
            </a:r>
            <a:r>
              <a:rPr lang="zh-CN" altLang="en-US" sz="1400" dirty="0"/>
              <a:t>的时延就可以达到控制网速（带宽？）的目的。</a:t>
            </a:r>
            <a:r>
              <a:rPr lang="zh-CN" altLang="en-US" sz="1400" dirty="0">
                <a:solidFill>
                  <a:srgbClr val="FF0000"/>
                </a:solidFill>
              </a:rPr>
              <a:t>这里假设了网络路径是无限通畅的，服务器故意让响应时延是唯一影响速度的因素</a:t>
            </a:r>
            <a:r>
              <a:rPr lang="zh-CN" altLang="en-US" sz="1400" dirty="0"/>
              <a:t>。通过这种操控，就可以使得每次的数据传输都按照一个规定的网络环境进行，也就可以实现控制变量法，使得</a:t>
            </a:r>
            <a:r>
              <a:rPr lang="en-US" altLang="zh-CN" sz="1400" dirty="0"/>
              <a:t>rate adaption</a:t>
            </a:r>
            <a:r>
              <a:rPr lang="zh-CN" altLang="en-US" sz="1400" dirty="0"/>
              <a:t>，</a:t>
            </a:r>
            <a:r>
              <a:rPr lang="en-US" altLang="zh-CN" sz="1400" dirty="0"/>
              <a:t>buffer adaption</a:t>
            </a:r>
            <a:r>
              <a:rPr lang="zh-CN" altLang="en-US" sz="1400" dirty="0"/>
              <a:t>算法，</a:t>
            </a:r>
            <a:r>
              <a:rPr lang="en-US" altLang="zh-CN" sz="1400" dirty="0"/>
              <a:t>throughput prediction</a:t>
            </a:r>
            <a:r>
              <a:rPr lang="zh-CN" altLang="en-US" sz="1400" dirty="0"/>
              <a:t>算法成为唯一的变量，进而可在有限的实验次数下评价算法的优劣。</a:t>
            </a:r>
            <a:endParaRPr lang="en-US" altLang="zh-CN" sz="1400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653FE85-1360-4A47-92D9-AF740DC3296C}"/>
              </a:ext>
            </a:extLst>
          </p:cNvPr>
          <p:cNvSpPr/>
          <p:nvPr/>
        </p:nvSpPr>
        <p:spPr>
          <a:xfrm>
            <a:off x="360312" y="770465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B962EB2-5AC0-4752-AA17-A8369BA8DE99}"/>
              </a:ext>
            </a:extLst>
          </p:cNvPr>
          <p:cNvCxnSpPr/>
          <p:nvPr/>
        </p:nvCxnSpPr>
        <p:spPr>
          <a:xfrm flipV="1">
            <a:off x="972886" y="2370667"/>
            <a:ext cx="0" cy="1473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FC349A5-59C5-4C2B-94F5-74EC175A43D9}"/>
              </a:ext>
            </a:extLst>
          </p:cNvPr>
          <p:cNvCxnSpPr>
            <a:cxnSpLocks/>
          </p:cNvCxnSpPr>
          <p:nvPr/>
        </p:nvCxnSpPr>
        <p:spPr>
          <a:xfrm>
            <a:off x="972886" y="3843867"/>
            <a:ext cx="26670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立方体 24">
            <a:extLst>
              <a:ext uri="{FF2B5EF4-FFF2-40B4-BE49-F238E27FC236}">
                <a16:creationId xmlns:a16="http://schemas.microsoft.com/office/drawing/2014/main" id="{9CF430FB-5C3B-497B-8E8F-DA8FB23374F1}"/>
              </a:ext>
            </a:extLst>
          </p:cNvPr>
          <p:cNvSpPr/>
          <p:nvPr/>
        </p:nvSpPr>
        <p:spPr>
          <a:xfrm>
            <a:off x="9938707" y="2815846"/>
            <a:ext cx="719915" cy="1324781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692FDF2-72B9-455E-85DD-0B1B77595997}"/>
              </a:ext>
            </a:extLst>
          </p:cNvPr>
          <p:cNvGrpSpPr/>
          <p:nvPr/>
        </p:nvGrpSpPr>
        <p:grpSpPr>
          <a:xfrm>
            <a:off x="5373058" y="2895172"/>
            <a:ext cx="1423129" cy="1304870"/>
            <a:chOff x="6951354" y="3337561"/>
            <a:chExt cx="684732" cy="587374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AFC8829-ADFF-47C3-87CC-1617B7C07742}"/>
                </a:ext>
              </a:extLst>
            </p:cNvPr>
            <p:cNvSpPr/>
            <p:nvPr/>
          </p:nvSpPr>
          <p:spPr>
            <a:xfrm>
              <a:off x="7043419" y="3337561"/>
              <a:ext cx="592667" cy="4148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>
              <a:extLst>
                <a:ext uri="{FF2B5EF4-FFF2-40B4-BE49-F238E27FC236}">
                  <a16:creationId xmlns:a16="http://schemas.microsoft.com/office/drawing/2014/main" id="{97C02708-5961-4A39-9C92-F2C67DD3F63C}"/>
                </a:ext>
              </a:extLst>
            </p:cNvPr>
            <p:cNvSpPr/>
            <p:nvPr/>
          </p:nvSpPr>
          <p:spPr>
            <a:xfrm>
              <a:off x="6951354" y="3752427"/>
              <a:ext cx="681566" cy="172508"/>
            </a:xfrm>
            <a:prstGeom prst="parallelogram">
              <a:avLst>
                <a:gd name="adj" fmla="val 52789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363FBEB2-0A98-4045-8E05-C5B4249E0767}"/>
              </a:ext>
            </a:extLst>
          </p:cNvPr>
          <p:cNvSpPr/>
          <p:nvPr/>
        </p:nvSpPr>
        <p:spPr>
          <a:xfrm>
            <a:off x="7432133" y="3105111"/>
            <a:ext cx="159799" cy="624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DFB99E5-78A4-48FA-815F-36FE1F9A86C8}"/>
              </a:ext>
            </a:extLst>
          </p:cNvPr>
          <p:cNvSpPr/>
          <p:nvPr/>
        </p:nvSpPr>
        <p:spPr>
          <a:xfrm>
            <a:off x="7839598" y="3105111"/>
            <a:ext cx="127205" cy="624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232EE8F-95BC-46D5-8716-680A67458B02}"/>
              </a:ext>
            </a:extLst>
          </p:cNvPr>
          <p:cNvSpPr/>
          <p:nvPr/>
        </p:nvSpPr>
        <p:spPr>
          <a:xfrm>
            <a:off x="8214469" y="3105111"/>
            <a:ext cx="152763" cy="624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087B75-6004-4615-BAA0-4BAC15E85ED4}"/>
              </a:ext>
            </a:extLst>
          </p:cNvPr>
          <p:cNvSpPr/>
          <p:nvPr/>
        </p:nvSpPr>
        <p:spPr>
          <a:xfrm>
            <a:off x="8614898" y="3113133"/>
            <a:ext cx="172002" cy="6163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CCC62D7-5600-4EC4-B28F-C8AD7DA4EE72}"/>
              </a:ext>
            </a:extLst>
          </p:cNvPr>
          <p:cNvSpPr/>
          <p:nvPr/>
        </p:nvSpPr>
        <p:spPr>
          <a:xfrm>
            <a:off x="9034567" y="3105111"/>
            <a:ext cx="105602" cy="624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6B76D26-6F1A-448D-88A5-F61C0CB36EFE}"/>
              </a:ext>
            </a:extLst>
          </p:cNvPr>
          <p:cNvSpPr/>
          <p:nvPr/>
        </p:nvSpPr>
        <p:spPr>
          <a:xfrm>
            <a:off x="9384701" y="3113133"/>
            <a:ext cx="69534" cy="6163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A670569B-00ED-4E19-986C-DD7B98DA3767}"/>
              </a:ext>
            </a:extLst>
          </p:cNvPr>
          <p:cNvSpPr/>
          <p:nvPr/>
        </p:nvSpPr>
        <p:spPr>
          <a:xfrm rot="10800000">
            <a:off x="7185251" y="3237984"/>
            <a:ext cx="2469554" cy="276109"/>
          </a:xfrm>
          <a:prstGeom prst="rightArrow">
            <a:avLst/>
          </a:prstGeom>
          <a:solidFill>
            <a:srgbClr val="FF00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8DEAD1E-DCF0-4207-ACBE-1B2F0D4C0794}"/>
              </a:ext>
            </a:extLst>
          </p:cNvPr>
          <p:cNvSpPr/>
          <p:nvPr/>
        </p:nvSpPr>
        <p:spPr>
          <a:xfrm rot="10800000">
            <a:off x="7591932" y="3042699"/>
            <a:ext cx="247666" cy="45719"/>
          </a:xfrm>
          <a:custGeom>
            <a:avLst/>
            <a:gdLst>
              <a:gd name="connsiteX0" fmla="*/ 0 w 313266"/>
              <a:gd name="connsiteY0" fmla="*/ 0 h 84667"/>
              <a:gd name="connsiteX1" fmla="*/ 0 w 313266"/>
              <a:gd name="connsiteY1" fmla="*/ 84667 h 84667"/>
              <a:gd name="connsiteX2" fmla="*/ 313266 w 313266"/>
              <a:gd name="connsiteY2" fmla="*/ 80433 h 84667"/>
              <a:gd name="connsiteX3" fmla="*/ 313266 w 313266"/>
              <a:gd name="connsiteY3" fmla="*/ 4233 h 84667"/>
              <a:gd name="connsiteX0" fmla="*/ 0 w 313266"/>
              <a:gd name="connsiteY0" fmla="*/ 0 h 85196"/>
              <a:gd name="connsiteX1" fmla="*/ 0 w 313266"/>
              <a:gd name="connsiteY1" fmla="*/ 84667 h 85196"/>
              <a:gd name="connsiteX2" fmla="*/ 313266 w 313266"/>
              <a:gd name="connsiteY2" fmla="*/ 85196 h 85196"/>
              <a:gd name="connsiteX3" fmla="*/ 313266 w 313266"/>
              <a:gd name="connsiteY3" fmla="*/ 4233 h 8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266" h="85196">
                <a:moveTo>
                  <a:pt x="0" y="0"/>
                </a:moveTo>
                <a:lnTo>
                  <a:pt x="0" y="84667"/>
                </a:lnTo>
                <a:lnTo>
                  <a:pt x="313266" y="85196"/>
                </a:lnTo>
                <a:lnTo>
                  <a:pt x="313266" y="423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58821403-92AE-46AB-A89C-9F0D50D66EC3}"/>
              </a:ext>
            </a:extLst>
          </p:cNvPr>
          <p:cNvSpPr/>
          <p:nvPr/>
        </p:nvSpPr>
        <p:spPr>
          <a:xfrm rot="10800000">
            <a:off x="7966803" y="3042698"/>
            <a:ext cx="247666" cy="45719"/>
          </a:xfrm>
          <a:custGeom>
            <a:avLst/>
            <a:gdLst>
              <a:gd name="connsiteX0" fmla="*/ 0 w 313266"/>
              <a:gd name="connsiteY0" fmla="*/ 0 h 84667"/>
              <a:gd name="connsiteX1" fmla="*/ 0 w 313266"/>
              <a:gd name="connsiteY1" fmla="*/ 84667 h 84667"/>
              <a:gd name="connsiteX2" fmla="*/ 313266 w 313266"/>
              <a:gd name="connsiteY2" fmla="*/ 80433 h 84667"/>
              <a:gd name="connsiteX3" fmla="*/ 313266 w 313266"/>
              <a:gd name="connsiteY3" fmla="*/ 4233 h 84667"/>
              <a:gd name="connsiteX0" fmla="*/ 0 w 313266"/>
              <a:gd name="connsiteY0" fmla="*/ 0 h 85196"/>
              <a:gd name="connsiteX1" fmla="*/ 0 w 313266"/>
              <a:gd name="connsiteY1" fmla="*/ 84667 h 85196"/>
              <a:gd name="connsiteX2" fmla="*/ 313266 w 313266"/>
              <a:gd name="connsiteY2" fmla="*/ 85196 h 85196"/>
              <a:gd name="connsiteX3" fmla="*/ 313266 w 313266"/>
              <a:gd name="connsiteY3" fmla="*/ 4233 h 8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266" h="85196">
                <a:moveTo>
                  <a:pt x="0" y="0"/>
                </a:moveTo>
                <a:lnTo>
                  <a:pt x="0" y="84667"/>
                </a:lnTo>
                <a:lnTo>
                  <a:pt x="313266" y="85196"/>
                </a:lnTo>
                <a:lnTo>
                  <a:pt x="313266" y="423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7578AEA9-7836-416E-8832-D35A07419C6F}"/>
              </a:ext>
            </a:extLst>
          </p:cNvPr>
          <p:cNvSpPr/>
          <p:nvPr/>
        </p:nvSpPr>
        <p:spPr>
          <a:xfrm rot="10800000">
            <a:off x="8367135" y="3042697"/>
            <a:ext cx="247666" cy="45719"/>
          </a:xfrm>
          <a:custGeom>
            <a:avLst/>
            <a:gdLst>
              <a:gd name="connsiteX0" fmla="*/ 0 w 313266"/>
              <a:gd name="connsiteY0" fmla="*/ 0 h 84667"/>
              <a:gd name="connsiteX1" fmla="*/ 0 w 313266"/>
              <a:gd name="connsiteY1" fmla="*/ 84667 h 84667"/>
              <a:gd name="connsiteX2" fmla="*/ 313266 w 313266"/>
              <a:gd name="connsiteY2" fmla="*/ 80433 h 84667"/>
              <a:gd name="connsiteX3" fmla="*/ 313266 w 313266"/>
              <a:gd name="connsiteY3" fmla="*/ 4233 h 84667"/>
              <a:gd name="connsiteX0" fmla="*/ 0 w 313266"/>
              <a:gd name="connsiteY0" fmla="*/ 0 h 85196"/>
              <a:gd name="connsiteX1" fmla="*/ 0 w 313266"/>
              <a:gd name="connsiteY1" fmla="*/ 84667 h 85196"/>
              <a:gd name="connsiteX2" fmla="*/ 313266 w 313266"/>
              <a:gd name="connsiteY2" fmla="*/ 85196 h 85196"/>
              <a:gd name="connsiteX3" fmla="*/ 313266 w 313266"/>
              <a:gd name="connsiteY3" fmla="*/ 4233 h 8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266" h="85196">
                <a:moveTo>
                  <a:pt x="0" y="0"/>
                </a:moveTo>
                <a:lnTo>
                  <a:pt x="0" y="84667"/>
                </a:lnTo>
                <a:lnTo>
                  <a:pt x="313266" y="85196"/>
                </a:lnTo>
                <a:lnTo>
                  <a:pt x="313266" y="423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160CCDE5-F8D4-4F5D-8C29-B3C4E03FF76C}"/>
              </a:ext>
            </a:extLst>
          </p:cNvPr>
          <p:cNvSpPr/>
          <p:nvPr/>
        </p:nvSpPr>
        <p:spPr>
          <a:xfrm rot="10800000">
            <a:off x="8786207" y="3042696"/>
            <a:ext cx="247666" cy="45719"/>
          </a:xfrm>
          <a:custGeom>
            <a:avLst/>
            <a:gdLst>
              <a:gd name="connsiteX0" fmla="*/ 0 w 313266"/>
              <a:gd name="connsiteY0" fmla="*/ 0 h 84667"/>
              <a:gd name="connsiteX1" fmla="*/ 0 w 313266"/>
              <a:gd name="connsiteY1" fmla="*/ 84667 h 84667"/>
              <a:gd name="connsiteX2" fmla="*/ 313266 w 313266"/>
              <a:gd name="connsiteY2" fmla="*/ 80433 h 84667"/>
              <a:gd name="connsiteX3" fmla="*/ 313266 w 313266"/>
              <a:gd name="connsiteY3" fmla="*/ 4233 h 84667"/>
              <a:gd name="connsiteX0" fmla="*/ 0 w 313266"/>
              <a:gd name="connsiteY0" fmla="*/ 0 h 85196"/>
              <a:gd name="connsiteX1" fmla="*/ 0 w 313266"/>
              <a:gd name="connsiteY1" fmla="*/ 84667 h 85196"/>
              <a:gd name="connsiteX2" fmla="*/ 313266 w 313266"/>
              <a:gd name="connsiteY2" fmla="*/ 85196 h 85196"/>
              <a:gd name="connsiteX3" fmla="*/ 313266 w 313266"/>
              <a:gd name="connsiteY3" fmla="*/ 4233 h 8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266" h="85196">
                <a:moveTo>
                  <a:pt x="0" y="0"/>
                </a:moveTo>
                <a:lnTo>
                  <a:pt x="0" y="84667"/>
                </a:lnTo>
                <a:lnTo>
                  <a:pt x="313266" y="85196"/>
                </a:lnTo>
                <a:lnTo>
                  <a:pt x="313266" y="423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8E8DC866-77DB-42C9-A53E-3BF0685646BC}"/>
              </a:ext>
            </a:extLst>
          </p:cNvPr>
          <p:cNvSpPr/>
          <p:nvPr/>
        </p:nvSpPr>
        <p:spPr>
          <a:xfrm rot="10800000">
            <a:off x="9140169" y="3042695"/>
            <a:ext cx="247666" cy="45719"/>
          </a:xfrm>
          <a:custGeom>
            <a:avLst/>
            <a:gdLst>
              <a:gd name="connsiteX0" fmla="*/ 0 w 313266"/>
              <a:gd name="connsiteY0" fmla="*/ 0 h 84667"/>
              <a:gd name="connsiteX1" fmla="*/ 0 w 313266"/>
              <a:gd name="connsiteY1" fmla="*/ 84667 h 84667"/>
              <a:gd name="connsiteX2" fmla="*/ 313266 w 313266"/>
              <a:gd name="connsiteY2" fmla="*/ 80433 h 84667"/>
              <a:gd name="connsiteX3" fmla="*/ 313266 w 313266"/>
              <a:gd name="connsiteY3" fmla="*/ 4233 h 84667"/>
              <a:gd name="connsiteX0" fmla="*/ 0 w 313266"/>
              <a:gd name="connsiteY0" fmla="*/ 0 h 85196"/>
              <a:gd name="connsiteX1" fmla="*/ 0 w 313266"/>
              <a:gd name="connsiteY1" fmla="*/ 84667 h 85196"/>
              <a:gd name="connsiteX2" fmla="*/ 313266 w 313266"/>
              <a:gd name="connsiteY2" fmla="*/ 85196 h 85196"/>
              <a:gd name="connsiteX3" fmla="*/ 313266 w 313266"/>
              <a:gd name="connsiteY3" fmla="*/ 4233 h 8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266" h="85196">
                <a:moveTo>
                  <a:pt x="0" y="0"/>
                </a:moveTo>
                <a:lnTo>
                  <a:pt x="0" y="84667"/>
                </a:lnTo>
                <a:lnTo>
                  <a:pt x="313266" y="85196"/>
                </a:lnTo>
                <a:lnTo>
                  <a:pt x="313266" y="423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00CAE05-929A-47D6-8967-CE03ABD3146D}"/>
              </a:ext>
            </a:extLst>
          </p:cNvPr>
          <p:cNvCxnSpPr>
            <a:cxnSpLocks/>
          </p:cNvCxnSpPr>
          <p:nvPr/>
        </p:nvCxnSpPr>
        <p:spPr>
          <a:xfrm flipH="1">
            <a:off x="7721462" y="2689911"/>
            <a:ext cx="78793" cy="349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2E63D907-B773-4238-AB12-73DADF5BB6C9}"/>
              </a:ext>
            </a:extLst>
          </p:cNvPr>
          <p:cNvCxnSpPr>
            <a:cxnSpLocks/>
          </p:cNvCxnSpPr>
          <p:nvPr/>
        </p:nvCxnSpPr>
        <p:spPr>
          <a:xfrm flipH="1">
            <a:off x="8098959" y="2658515"/>
            <a:ext cx="89726" cy="389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9D2C4D6-8065-4C06-9F97-6F76D5B1DA01}"/>
              </a:ext>
            </a:extLst>
          </p:cNvPr>
          <p:cNvCxnSpPr>
            <a:cxnSpLocks/>
          </p:cNvCxnSpPr>
          <p:nvPr/>
        </p:nvCxnSpPr>
        <p:spPr>
          <a:xfrm>
            <a:off x="8514748" y="2698910"/>
            <a:ext cx="0" cy="327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2EF1CDA-B79C-4567-8E12-0F882335EDD6}"/>
              </a:ext>
            </a:extLst>
          </p:cNvPr>
          <p:cNvCxnSpPr>
            <a:cxnSpLocks/>
          </p:cNvCxnSpPr>
          <p:nvPr/>
        </p:nvCxnSpPr>
        <p:spPr>
          <a:xfrm>
            <a:off x="8905134" y="2687167"/>
            <a:ext cx="9811" cy="349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626E191-74C4-4DF8-8089-035AFAA019F8}"/>
              </a:ext>
            </a:extLst>
          </p:cNvPr>
          <p:cNvCxnSpPr>
            <a:cxnSpLocks/>
          </p:cNvCxnSpPr>
          <p:nvPr/>
        </p:nvCxnSpPr>
        <p:spPr>
          <a:xfrm>
            <a:off x="9264002" y="2641881"/>
            <a:ext cx="0" cy="384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00532DF3-058C-46F2-9AF8-6DED21E386E7}"/>
              </a:ext>
            </a:extLst>
          </p:cNvPr>
          <p:cNvSpPr txBox="1"/>
          <p:nvPr/>
        </p:nvSpPr>
        <p:spPr>
          <a:xfrm>
            <a:off x="7277563" y="2367041"/>
            <a:ext cx="2650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等间隔传输数据</a:t>
            </a:r>
            <a:r>
              <a:rPr lang="en-US" altLang="zh-CN" sz="1400" dirty="0"/>
              <a:t>: </a:t>
            </a:r>
            <a:r>
              <a:rPr lang="en-US" altLang="zh-CN" sz="1400" dirty="0" err="1"/>
              <a:t>dt</a:t>
            </a:r>
            <a:r>
              <a:rPr lang="en-US" altLang="zh-CN" sz="1400" dirty="0"/>
              <a:t> = 100 </a:t>
            </a:r>
            <a:r>
              <a:rPr lang="en-US" altLang="zh-CN" sz="1400" dirty="0" err="1"/>
              <a:t>ms</a:t>
            </a:r>
            <a:endParaRPr lang="zh-CN" altLang="en-US" sz="1400" dirty="0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8A88CA62-C765-4FDD-BB08-AD98374857AD}"/>
              </a:ext>
            </a:extLst>
          </p:cNvPr>
          <p:cNvCxnSpPr>
            <a:cxnSpLocks/>
          </p:cNvCxnSpPr>
          <p:nvPr/>
        </p:nvCxnSpPr>
        <p:spPr>
          <a:xfrm flipH="1" flipV="1">
            <a:off x="7895773" y="3728895"/>
            <a:ext cx="175106" cy="614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813AD2D5-E67F-4508-9E29-EF3D40A1642B}"/>
              </a:ext>
            </a:extLst>
          </p:cNvPr>
          <p:cNvSpPr txBox="1"/>
          <p:nvPr/>
        </p:nvSpPr>
        <p:spPr>
          <a:xfrm>
            <a:off x="6841624" y="4372726"/>
            <a:ext cx="3546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每次传输的数据量根据</a:t>
            </a:r>
            <a:r>
              <a:rPr lang="en-US" altLang="zh-CN" sz="1400" dirty="0"/>
              <a:t>trace</a:t>
            </a:r>
            <a:r>
              <a:rPr lang="zh-CN" altLang="en-US" sz="1400" dirty="0"/>
              <a:t>计算得到</a:t>
            </a: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CB9EBC89-246C-4D88-8E2F-18667B44A012}"/>
              </a:ext>
            </a:extLst>
          </p:cNvPr>
          <p:cNvCxnSpPr>
            <a:cxnSpLocks/>
          </p:cNvCxnSpPr>
          <p:nvPr/>
        </p:nvCxnSpPr>
        <p:spPr>
          <a:xfrm flipV="1">
            <a:off x="8420028" y="3736935"/>
            <a:ext cx="271231" cy="64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3D87A0E9-9213-4275-A850-B84006A330BF}"/>
              </a:ext>
            </a:extLst>
          </p:cNvPr>
          <p:cNvCxnSpPr>
            <a:cxnSpLocks/>
          </p:cNvCxnSpPr>
          <p:nvPr/>
        </p:nvCxnSpPr>
        <p:spPr>
          <a:xfrm flipV="1">
            <a:off x="9110484" y="3736935"/>
            <a:ext cx="306412" cy="678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79B981EB-4B3E-4FCF-97FD-C66307CD5D15}"/>
              </a:ext>
            </a:extLst>
          </p:cNvPr>
          <p:cNvSpPr txBox="1"/>
          <p:nvPr/>
        </p:nvSpPr>
        <p:spPr>
          <a:xfrm>
            <a:off x="10747066" y="3211360"/>
            <a:ext cx="940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Server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7CF6D2B-A22C-4A1D-ACED-CB34C6F5B3A1}"/>
              </a:ext>
            </a:extLst>
          </p:cNvPr>
          <p:cNvSpPr txBox="1"/>
          <p:nvPr/>
        </p:nvSpPr>
        <p:spPr>
          <a:xfrm>
            <a:off x="5738128" y="3109688"/>
            <a:ext cx="940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Client</a:t>
            </a:r>
            <a:endParaRPr lang="zh-CN" altLang="en-US" dirty="0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8F97E28C-1238-4786-9018-D050A1A3F52F}"/>
              </a:ext>
            </a:extLst>
          </p:cNvPr>
          <p:cNvSpPr/>
          <p:nvPr/>
        </p:nvSpPr>
        <p:spPr>
          <a:xfrm>
            <a:off x="972886" y="2413000"/>
            <a:ext cx="2616200" cy="1282700"/>
          </a:xfrm>
          <a:custGeom>
            <a:avLst/>
            <a:gdLst>
              <a:gd name="connsiteX0" fmla="*/ 0 w 2616200"/>
              <a:gd name="connsiteY0" fmla="*/ 558800 h 1282700"/>
              <a:gd name="connsiteX1" fmla="*/ 171450 w 2616200"/>
              <a:gd name="connsiteY1" fmla="*/ 488950 h 1282700"/>
              <a:gd name="connsiteX2" fmla="*/ 323850 w 2616200"/>
              <a:gd name="connsiteY2" fmla="*/ 603250 h 1282700"/>
              <a:gd name="connsiteX3" fmla="*/ 400050 w 2616200"/>
              <a:gd name="connsiteY3" fmla="*/ 260350 h 1282700"/>
              <a:gd name="connsiteX4" fmla="*/ 419100 w 2616200"/>
              <a:gd name="connsiteY4" fmla="*/ 838200 h 1282700"/>
              <a:gd name="connsiteX5" fmla="*/ 514350 w 2616200"/>
              <a:gd name="connsiteY5" fmla="*/ 444500 h 1282700"/>
              <a:gd name="connsiteX6" fmla="*/ 558800 w 2616200"/>
              <a:gd name="connsiteY6" fmla="*/ 603250 h 1282700"/>
              <a:gd name="connsiteX7" fmla="*/ 698500 w 2616200"/>
              <a:gd name="connsiteY7" fmla="*/ 431800 h 1282700"/>
              <a:gd name="connsiteX8" fmla="*/ 755650 w 2616200"/>
              <a:gd name="connsiteY8" fmla="*/ 133350 h 1282700"/>
              <a:gd name="connsiteX9" fmla="*/ 876300 w 2616200"/>
              <a:gd name="connsiteY9" fmla="*/ 730250 h 1282700"/>
              <a:gd name="connsiteX10" fmla="*/ 971550 w 2616200"/>
              <a:gd name="connsiteY10" fmla="*/ 419100 h 1282700"/>
              <a:gd name="connsiteX11" fmla="*/ 1238250 w 2616200"/>
              <a:gd name="connsiteY11" fmla="*/ 1181100 h 1282700"/>
              <a:gd name="connsiteX12" fmla="*/ 1231900 w 2616200"/>
              <a:gd name="connsiteY12" fmla="*/ 952500 h 1282700"/>
              <a:gd name="connsiteX13" fmla="*/ 1473200 w 2616200"/>
              <a:gd name="connsiteY13" fmla="*/ 1282700 h 1282700"/>
              <a:gd name="connsiteX14" fmla="*/ 1619250 w 2616200"/>
              <a:gd name="connsiteY14" fmla="*/ 869950 h 1282700"/>
              <a:gd name="connsiteX15" fmla="*/ 1708150 w 2616200"/>
              <a:gd name="connsiteY15" fmla="*/ 457200 h 1282700"/>
              <a:gd name="connsiteX16" fmla="*/ 1835150 w 2616200"/>
              <a:gd name="connsiteY16" fmla="*/ 317500 h 1282700"/>
              <a:gd name="connsiteX17" fmla="*/ 1968500 w 2616200"/>
              <a:gd name="connsiteY17" fmla="*/ 0 h 1282700"/>
              <a:gd name="connsiteX18" fmla="*/ 2038350 w 2616200"/>
              <a:gd name="connsiteY18" fmla="*/ 838200 h 1282700"/>
              <a:gd name="connsiteX19" fmla="*/ 2127250 w 2616200"/>
              <a:gd name="connsiteY19" fmla="*/ 577850 h 1282700"/>
              <a:gd name="connsiteX20" fmla="*/ 2216150 w 2616200"/>
              <a:gd name="connsiteY20" fmla="*/ 704850 h 1282700"/>
              <a:gd name="connsiteX21" fmla="*/ 2393950 w 2616200"/>
              <a:gd name="connsiteY21" fmla="*/ 603250 h 1282700"/>
              <a:gd name="connsiteX22" fmla="*/ 2419350 w 2616200"/>
              <a:gd name="connsiteY22" fmla="*/ 685800 h 1282700"/>
              <a:gd name="connsiteX23" fmla="*/ 2616200 w 2616200"/>
              <a:gd name="connsiteY23" fmla="*/ 476250 h 128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616200" h="1282700">
                <a:moveTo>
                  <a:pt x="0" y="558800"/>
                </a:moveTo>
                <a:lnTo>
                  <a:pt x="171450" y="488950"/>
                </a:lnTo>
                <a:lnTo>
                  <a:pt x="323850" y="603250"/>
                </a:lnTo>
                <a:lnTo>
                  <a:pt x="400050" y="260350"/>
                </a:lnTo>
                <a:lnTo>
                  <a:pt x="419100" y="838200"/>
                </a:lnTo>
                <a:lnTo>
                  <a:pt x="514350" y="444500"/>
                </a:lnTo>
                <a:lnTo>
                  <a:pt x="558800" y="603250"/>
                </a:lnTo>
                <a:lnTo>
                  <a:pt x="698500" y="431800"/>
                </a:lnTo>
                <a:lnTo>
                  <a:pt x="755650" y="133350"/>
                </a:lnTo>
                <a:lnTo>
                  <a:pt x="876300" y="730250"/>
                </a:lnTo>
                <a:lnTo>
                  <a:pt x="971550" y="419100"/>
                </a:lnTo>
                <a:lnTo>
                  <a:pt x="1238250" y="1181100"/>
                </a:lnTo>
                <a:lnTo>
                  <a:pt x="1231900" y="952500"/>
                </a:lnTo>
                <a:lnTo>
                  <a:pt x="1473200" y="1282700"/>
                </a:lnTo>
                <a:lnTo>
                  <a:pt x="1619250" y="869950"/>
                </a:lnTo>
                <a:lnTo>
                  <a:pt x="1708150" y="457200"/>
                </a:lnTo>
                <a:lnTo>
                  <a:pt x="1835150" y="317500"/>
                </a:lnTo>
                <a:lnTo>
                  <a:pt x="1968500" y="0"/>
                </a:lnTo>
                <a:lnTo>
                  <a:pt x="2038350" y="838200"/>
                </a:lnTo>
                <a:lnTo>
                  <a:pt x="2127250" y="577850"/>
                </a:lnTo>
                <a:lnTo>
                  <a:pt x="2216150" y="704850"/>
                </a:lnTo>
                <a:lnTo>
                  <a:pt x="2393950" y="603250"/>
                </a:lnTo>
                <a:lnTo>
                  <a:pt x="2419350" y="685800"/>
                </a:lnTo>
                <a:lnTo>
                  <a:pt x="2616200" y="47625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12A69D6-3FB1-466E-857E-AA4BC8F5A13B}"/>
              </a:ext>
            </a:extLst>
          </p:cNvPr>
          <p:cNvSpPr txBox="1"/>
          <p:nvPr/>
        </p:nvSpPr>
        <p:spPr>
          <a:xfrm>
            <a:off x="3131168" y="3892265"/>
            <a:ext cx="561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Time</a:t>
            </a:r>
            <a:endParaRPr lang="zh-CN" altLang="en-US" sz="14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94BA2BD-50A1-4F94-8948-9A3660D5BBCC}"/>
              </a:ext>
            </a:extLst>
          </p:cNvPr>
          <p:cNvSpPr txBox="1"/>
          <p:nvPr/>
        </p:nvSpPr>
        <p:spPr>
          <a:xfrm rot="16200000">
            <a:off x="6599" y="2872898"/>
            <a:ext cx="1405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Throughput</a:t>
            </a:r>
            <a:endParaRPr lang="zh-CN" altLang="en-US" sz="14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D1358BC-7F1A-44D4-9CA4-D6CF1BE9B6E9}"/>
              </a:ext>
            </a:extLst>
          </p:cNvPr>
          <p:cNvSpPr txBox="1"/>
          <p:nvPr/>
        </p:nvSpPr>
        <p:spPr>
          <a:xfrm>
            <a:off x="1918762" y="2043668"/>
            <a:ext cx="775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Trace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158BC81-BF24-4671-8AA8-6A463692D5BB}"/>
              </a:ext>
            </a:extLst>
          </p:cNvPr>
          <p:cNvSpPr txBox="1"/>
          <p:nvPr/>
        </p:nvSpPr>
        <p:spPr>
          <a:xfrm>
            <a:off x="555444" y="4381181"/>
            <a:ext cx="38476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这里的</a:t>
            </a:r>
            <a:r>
              <a:rPr lang="en-US" altLang="zh-CN" sz="1400" dirty="0"/>
              <a:t>Trace</a:t>
            </a:r>
            <a:r>
              <a:rPr lang="zh-CN" altLang="en-US" sz="1400" dirty="0"/>
              <a:t>是指通过其他设备以其自身的方法测试得到的吞吐量变化曲线，</a:t>
            </a:r>
            <a:r>
              <a:rPr lang="en-US" altLang="zh-CN" sz="1400" dirty="0"/>
              <a:t>trace</a:t>
            </a:r>
            <a:r>
              <a:rPr lang="zh-CN" altLang="en-US" sz="1400" dirty="0"/>
              <a:t>的采样时间间隔为</a:t>
            </a:r>
            <a:r>
              <a:rPr lang="en-US" altLang="zh-CN" sz="1400" dirty="0"/>
              <a:t>1</a:t>
            </a:r>
            <a:r>
              <a:rPr lang="zh-CN" altLang="en-US" sz="1400" dirty="0"/>
              <a:t>秒。这个</a:t>
            </a:r>
            <a:r>
              <a:rPr lang="en-US" altLang="zh-CN" sz="1400" dirty="0"/>
              <a:t>trace</a:t>
            </a:r>
            <a:r>
              <a:rPr lang="zh-CN" altLang="en-US" sz="1400" dirty="0"/>
              <a:t>的来源可以是任何场景。</a:t>
            </a: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47F6DFDE-959B-4DAC-B30F-7155E3B1CF93}"/>
              </a:ext>
            </a:extLst>
          </p:cNvPr>
          <p:cNvCxnSpPr/>
          <p:nvPr/>
        </p:nvCxnSpPr>
        <p:spPr>
          <a:xfrm>
            <a:off x="1591733" y="1930400"/>
            <a:ext cx="0" cy="245078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94844F03-CA18-4AFA-A010-870B972DA51C}"/>
              </a:ext>
            </a:extLst>
          </p:cNvPr>
          <p:cNvSpPr txBox="1"/>
          <p:nvPr/>
        </p:nvSpPr>
        <p:spPr>
          <a:xfrm>
            <a:off x="1530556" y="2897656"/>
            <a:ext cx="571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f(t)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0D66ED5F-1A4D-48A1-9296-C0521757A1E7}"/>
              </a:ext>
            </a:extLst>
          </p:cNvPr>
          <p:cNvSpPr txBox="1"/>
          <p:nvPr/>
        </p:nvSpPr>
        <p:spPr>
          <a:xfrm>
            <a:off x="1591733" y="3854537"/>
            <a:ext cx="279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t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EBA56E8-929F-4073-AA67-16C6740C1319}"/>
              </a:ext>
            </a:extLst>
          </p:cNvPr>
          <p:cNvSpPr txBox="1"/>
          <p:nvPr/>
        </p:nvSpPr>
        <p:spPr>
          <a:xfrm>
            <a:off x="9804972" y="4372725"/>
            <a:ext cx="1003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f(t)*</a:t>
            </a:r>
            <a:r>
              <a:rPr lang="en-US" altLang="zh-CN" sz="1400" dirty="0" err="1">
                <a:solidFill>
                  <a:srgbClr val="FF0000"/>
                </a:solidFill>
              </a:rPr>
              <a:t>dt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BCE7E829-42F1-4469-B8E0-86F0428A2804}"/>
              </a:ext>
            </a:extLst>
          </p:cNvPr>
          <p:cNvSpPr txBox="1"/>
          <p:nvPr/>
        </p:nvSpPr>
        <p:spPr>
          <a:xfrm>
            <a:off x="6734674" y="4718971"/>
            <a:ext cx="40123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f(t)</a:t>
            </a:r>
            <a:r>
              <a:rPr lang="zh-CN" altLang="en-US" sz="1400" dirty="0"/>
              <a:t>是指在</a:t>
            </a:r>
            <a:r>
              <a:rPr lang="en-US" altLang="zh-CN" sz="1400" dirty="0"/>
              <a:t>t</a:t>
            </a:r>
            <a:r>
              <a:rPr lang="zh-CN" altLang="en-US" sz="1400" dirty="0"/>
              <a:t>时，</a:t>
            </a:r>
            <a:r>
              <a:rPr lang="en-US" altLang="zh-CN" sz="1400" dirty="0"/>
              <a:t>trace</a:t>
            </a:r>
            <a:r>
              <a:rPr lang="zh-CN" altLang="en-US" sz="1400" dirty="0"/>
              <a:t>中吞吐量大小</a:t>
            </a:r>
            <a:r>
              <a:rPr lang="en-US" altLang="zh-CN" sz="1400" dirty="0"/>
              <a:t>; </a:t>
            </a:r>
            <a:r>
              <a:rPr lang="en-US" altLang="zh-CN" sz="1400" dirty="0" err="1"/>
              <a:t>dt</a:t>
            </a:r>
            <a:r>
              <a:rPr lang="zh-CN" altLang="en-US" sz="1400" dirty="0"/>
              <a:t>是时间间隔，这里取得</a:t>
            </a:r>
            <a:r>
              <a:rPr lang="en-US" altLang="zh-CN" sz="1400" dirty="0"/>
              <a:t>100ms</a:t>
            </a:r>
            <a:r>
              <a:rPr lang="zh-CN" altLang="en-US" sz="1400" dirty="0"/>
              <a:t>。这样，每次试验，通过</a:t>
            </a:r>
            <a:r>
              <a:rPr lang="en-US" altLang="zh-CN" sz="1400" dirty="0"/>
              <a:t>client</a:t>
            </a:r>
            <a:r>
              <a:rPr lang="zh-CN" altLang="en-US" sz="1400" dirty="0"/>
              <a:t>端测得的吞吐量会与预设的</a:t>
            </a:r>
            <a:r>
              <a:rPr lang="en-US" altLang="zh-CN" sz="1400" dirty="0"/>
              <a:t>trace</a:t>
            </a:r>
            <a:r>
              <a:rPr lang="zh-CN" altLang="en-US" sz="1400" dirty="0"/>
              <a:t>一样。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897E936-5163-4F12-8EB3-D02375324177}"/>
              </a:ext>
            </a:extLst>
          </p:cNvPr>
          <p:cNvSpPr/>
          <p:nvPr/>
        </p:nvSpPr>
        <p:spPr>
          <a:xfrm>
            <a:off x="1568755" y="3820467"/>
            <a:ext cx="46800" cy="46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288BF5F4-F694-451F-910C-868A9B1AD71E}"/>
              </a:ext>
            </a:extLst>
          </p:cNvPr>
          <p:cNvSpPr/>
          <p:nvPr/>
        </p:nvSpPr>
        <p:spPr>
          <a:xfrm>
            <a:off x="1568755" y="2923770"/>
            <a:ext cx="46800" cy="46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95B6C19D-D27C-4636-8090-75EE2E603F60}"/>
              </a:ext>
            </a:extLst>
          </p:cNvPr>
          <p:cNvSpPr/>
          <p:nvPr/>
        </p:nvSpPr>
        <p:spPr>
          <a:xfrm>
            <a:off x="362862" y="5686251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44A1F12-AC6E-4205-8198-4C6424FBA7EE}"/>
              </a:ext>
            </a:extLst>
          </p:cNvPr>
          <p:cNvSpPr txBox="1"/>
          <p:nvPr/>
        </p:nvSpPr>
        <p:spPr>
          <a:xfrm>
            <a:off x="586221" y="5593245"/>
            <a:ext cx="1923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代码实现 </a:t>
            </a:r>
            <a:r>
              <a:rPr lang="en-US" altLang="zh-CN" sz="1600" dirty="0">
                <a:solidFill>
                  <a:srgbClr val="FF0000"/>
                </a:solidFill>
              </a:rPr>
              <a:t>server3.js</a:t>
            </a:r>
            <a:endParaRPr lang="zh-CN" altLang="en-US" sz="1600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B69A2962-D23A-444A-A31C-9F1FE0217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21" y="6104837"/>
            <a:ext cx="5190050" cy="519602"/>
          </a:xfrm>
          <a:prstGeom prst="rect">
            <a:avLst/>
          </a:prstGeom>
        </p:spPr>
      </p:pic>
      <p:sp>
        <p:nvSpPr>
          <p:cNvPr id="95" name="文本框 94">
            <a:extLst>
              <a:ext uri="{FF2B5EF4-FFF2-40B4-BE49-F238E27FC236}">
                <a16:creationId xmlns:a16="http://schemas.microsoft.com/office/drawing/2014/main" id="{1001F211-B877-4D82-B48B-0310AE30E69B}"/>
              </a:ext>
            </a:extLst>
          </p:cNvPr>
          <p:cNvSpPr txBox="1"/>
          <p:nvPr/>
        </p:nvSpPr>
        <p:spPr>
          <a:xfrm>
            <a:off x="5967652" y="6000751"/>
            <a:ext cx="37438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通过</a:t>
            </a:r>
            <a:r>
              <a:rPr lang="en-US" altLang="zh-CN" sz="1400" dirty="0" err="1"/>
              <a:t>response.write</a:t>
            </a:r>
            <a:r>
              <a:rPr lang="en-US" altLang="zh-CN" sz="1400" dirty="0"/>
              <a:t>()</a:t>
            </a:r>
            <a:r>
              <a:rPr lang="zh-CN" altLang="en-US" sz="1400" dirty="0"/>
              <a:t>来向</a:t>
            </a:r>
            <a:r>
              <a:rPr lang="en-US" altLang="zh-CN" sz="1400" dirty="0"/>
              <a:t>client</a:t>
            </a:r>
            <a:r>
              <a:rPr lang="zh-CN" altLang="en-US" sz="1400" dirty="0"/>
              <a:t>返回数据；左图这种情况是不加以控制，直接将</a:t>
            </a:r>
            <a:r>
              <a:rPr lang="en-US" altLang="zh-CN" sz="1400" dirty="0"/>
              <a:t>content</a:t>
            </a:r>
            <a:r>
              <a:rPr lang="zh-CN" altLang="en-US" sz="1400" dirty="0"/>
              <a:t>也就是请求的</a:t>
            </a:r>
            <a:r>
              <a:rPr lang="en-US" altLang="zh-CN" sz="1400" dirty="0"/>
              <a:t>segment</a:t>
            </a:r>
            <a:r>
              <a:rPr lang="zh-CN" altLang="en-US" sz="1400" dirty="0"/>
              <a:t>数据直接整个传回。</a:t>
            </a:r>
          </a:p>
        </p:txBody>
      </p:sp>
    </p:spTree>
    <p:extLst>
      <p:ext uri="{BB962C8B-B14F-4D97-AF65-F5344CB8AC3E}">
        <p14:creationId xmlns:p14="http://schemas.microsoft.com/office/powerpoint/2010/main" val="391565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DD2C1F4-3166-459B-BDA8-8A07486CA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24" y="656398"/>
            <a:ext cx="6919589" cy="291802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E1D0C12-A979-49FC-9092-950AA02AB3D6}"/>
              </a:ext>
            </a:extLst>
          </p:cNvPr>
          <p:cNvSpPr txBox="1"/>
          <p:nvPr/>
        </p:nvSpPr>
        <p:spPr>
          <a:xfrm>
            <a:off x="276167" y="183045"/>
            <a:ext cx="4702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以下添加函数部分，就是用来控制网速的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CC18F76-E598-4ADE-A741-BC64BC92CB65}"/>
              </a:ext>
            </a:extLst>
          </p:cNvPr>
          <p:cNvCxnSpPr>
            <a:cxnSpLocks/>
          </p:cNvCxnSpPr>
          <p:nvPr/>
        </p:nvCxnSpPr>
        <p:spPr>
          <a:xfrm flipH="1">
            <a:off x="4789300" y="979132"/>
            <a:ext cx="2878158" cy="1673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3D5E79B-724E-46EF-BB8D-19F116436931}"/>
              </a:ext>
            </a:extLst>
          </p:cNvPr>
          <p:cNvCxnSpPr>
            <a:cxnSpLocks/>
          </p:cNvCxnSpPr>
          <p:nvPr/>
        </p:nvCxnSpPr>
        <p:spPr>
          <a:xfrm flipH="1">
            <a:off x="4317429" y="1349565"/>
            <a:ext cx="343257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B63D8AD-8FD1-49EC-ACB2-7AF7A352DFA8}"/>
              </a:ext>
            </a:extLst>
          </p:cNvPr>
          <p:cNvCxnSpPr>
            <a:cxnSpLocks/>
          </p:cNvCxnSpPr>
          <p:nvPr/>
        </p:nvCxnSpPr>
        <p:spPr>
          <a:xfrm flipH="1">
            <a:off x="4190429" y="1500498"/>
            <a:ext cx="3559579" cy="258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CF06E44-2368-4FCA-8067-C814D98625B3}"/>
              </a:ext>
            </a:extLst>
          </p:cNvPr>
          <p:cNvCxnSpPr>
            <a:cxnSpLocks/>
          </p:cNvCxnSpPr>
          <p:nvPr/>
        </p:nvCxnSpPr>
        <p:spPr>
          <a:xfrm flipH="1" flipV="1">
            <a:off x="4703574" y="1677321"/>
            <a:ext cx="2960707" cy="4762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A72CE8CF-FA08-40FE-B3DE-9FA82707A57B}"/>
              </a:ext>
            </a:extLst>
          </p:cNvPr>
          <p:cNvSpPr txBox="1"/>
          <p:nvPr/>
        </p:nvSpPr>
        <p:spPr>
          <a:xfrm>
            <a:off x="7667458" y="642311"/>
            <a:ext cx="4224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1. </a:t>
            </a:r>
            <a:r>
              <a:rPr lang="zh-CN" altLang="en-US" sz="1400" dirty="0"/>
              <a:t>判断当次传输时离网页打开的时间，单位毫秒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0C9FA71-6B67-44EB-B018-8D32F44E2E35}"/>
              </a:ext>
            </a:extLst>
          </p:cNvPr>
          <p:cNvSpPr txBox="1"/>
          <p:nvPr/>
        </p:nvSpPr>
        <p:spPr>
          <a:xfrm>
            <a:off x="7667458" y="991331"/>
            <a:ext cx="4224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2. </a:t>
            </a:r>
            <a:r>
              <a:rPr lang="zh-CN" altLang="en-US" sz="1400" dirty="0"/>
              <a:t>判断当次传输应该选择</a:t>
            </a:r>
            <a:r>
              <a:rPr lang="en-US" altLang="zh-CN" sz="1400" dirty="0"/>
              <a:t>trace</a:t>
            </a:r>
            <a:r>
              <a:rPr lang="zh-CN" altLang="en-US" sz="1400" dirty="0"/>
              <a:t>中的哪一秒的速度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BE57DD8-629B-4A8C-91D9-B33902F380AA}"/>
              </a:ext>
            </a:extLst>
          </p:cNvPr>
          <p:cNvSpPr txBox="1"/>
          <p:nvPr/>
        </p:nvSpPr>
        <p:spPr>
          <a:xfrm>
            <a:off x="7664281" y="1213665"/>
            <a:ext cx="3876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3. </a:t>
            </a:r>
            <a:r>
              <a:rPr lang="zh-CN" altLang="en-US" sz="1400" dirty="0"/>
              <a:t>提取当次传输所用的速度，单位</a:t>
            </a:r>
            <a:r>
              <a:rPr lang="en-US" altLang="zh-CN" sz="1400" dirty="0"/>
              <a:t>bps</a:t>
            </a:r>
            <a:r>
              <a:rPr lang="zh-CN" altLang="en-US" sz="1400" dirty="0"/>
              <a:t>或者</a:t>
            </a:r>
            <a:r>
              <a:rPr lang="en-US" altLang="zh-CN" sz="1400" dirty="0" err="1"/>
              <a:t>Mbps</a:t>
            </a:r>
            <a:r>
              <a:rPr lang="zh-CN" altLang="en-US" sz="1400" dirty="0"/>
              <a:t>，要注意</a:t>
            </a:r>
            <a:r>
              <a:rPr lang="en-US" altLang="zh-CN" sz="1400" dirty="0"/>
              <a:t>trace</a:t>
            </a:r>
            <a:r>
              <a:rPr lang="zh-CN" altLang="en-US" sz="1400" dirty="0"/>
              <a:t>源文件单位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AD3AFED-2EB8-4CA3-A3DC-2B434C534C3C}"/>
              </a:ext>
            </a:extLst>
          </p:cNvPr>
          <p:cNvSpPr txBox="1"/>
          <p:nvPr/>
        </p:nvSpPr>
        <p:spPr>
          <a:xfrm>
            <a:off x="7664281" y="1794188"/>
            <a:ext cx="36480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4. </a:t>
            </a:r>
            <a:r>
              <a:rPr lang="zh-CN" altLang="en-US" sz="1400" dirty="0"/>
              <a:t>计算当次应传输数据的多少，单位是</a:t>
            </a:r>
            <a:r>
              <a:rPr lang="en-US" altLang="zh-CN" sz="1400" dirty="0"/>
              <a:t>byte</a:t>
            </a:r>
            <a:r>
              <a:rPr lang="zh-CN" altLang="en-US" sz="1400" dirty="0"/>
              <a:t>，如果</a:t>
            </a:r>
            <a:r>
              <a:rPr lang="en-US" altLang="zh-CN" sz="1400" dirty="0"/>
              <a:t>trace</a:t>
            </a:r>
            <a:r>
              <a:rPr lang="zh-CN" altLang="en-US" sz="1400" dirty="0"/>
              <a:t>中的吞吐量单位是</a:t>
            </a:r>
            <a:r>
              <a:rPr lang="en-US" altLang="zh-CN" sz="1400" dirty="0" err="1"/>
              <a:t>Mbps</a:t>
            </a:r>
            <a:r>
              <a:rPr lang="zh-CN" altLang="en-US" sz="1400" dirty="0"/>
              <a:t>，这里应该再乘以</a:t>
            </a:r>
            <a:r>
              <a:rPr lang="en-US" altLang="zh-CN" sz="1400" dirty="0"/>
              <a:t>1024*1024</a:t>
            </a:r>
            <a:r>
              <a:rPr lang="zh-CN" altLang="en-US" sz="1400" dirty="0"/>
              <a:t>。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A9782EE8-E181-4F42-A8A3-990D03E54DBE}"/>
              </a:ext>
            </a:extLst>
          </p:cNvPr>
          <p:cNvCxnSpPr>
            <a:cxnSpLocks/>
          </p:cNvCxnSpPr>
          <p:nvPr/>
        </p:nvCxnSpPr>
        <p:spPr>
          <a:xfrm flipH="1" flipV="1">
            <a:off x="4489865" y="2625875"/>
            <a:ext cx="3260143" cy="3517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A9679377-6B0B-4293-BDF8-B8F3B1DB87AC}"/>
              </a:ext>
            </a:extLst>
          </p:cNvPr>
          <p:cNvSpPr txBox="1"/>
          <p:nvPr/>
        </p:nvSpPr>
        <p:spPr>
          <a:xfrm>
            <a:off x="7707145" y="2653840"/>
            <a:ext cx="3648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5. </a:t>
            </a:r>
            <a:r>
              <a:rPr lang="zh-CN" altLang="en-US" sz="1400" dirty="0"/>
              <a:t>计算当次应传输数据在</a:t>
            </a:r>
            <a:r>
              <a:rPr lang="zh-CN" altLang="en-US" sz="1400" dirty="0">
                <a:solidFill>
                  <a:srgbClr val="FF0000"/>
                </a:solidFill>
              </a:rPr>
              <a:t>文件中的起始编号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68952AE-414D-4F98-9177-186F8095ED1C}"/>
              </a:ext>
            </a:extLst>
          </p:cNvPr>
          <p:cNvCxnSpPr>
            <a:cxnSpLocks/>
          </p:cNvCxnSpPr>
          <p:nvPr/>
        </p:nvCxnSpPr>
        <p:spPr>
          <a:xfrm flipH="1" flipV="1">
            <a:off x="6119937" y="3084883"/>
            <a:ext cx="1630071" cy="2796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853AABF4-4407-4E4D-A905-CC15B561278D}"/>
              </a:ext>
            </a:extLst>
          </p:cNvPr>
          <p:cNvSpPr txBox="1"/>
          <p:nvPr/>
        </p:nvSpPr>
        <p:spPr>
          <a:xfrm>
            <a:off x="7707144" y="3096527"/>
            <a:ext cx="3945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6. </a:t>
            </a:r>
            <a:r>
              <a:rPr lang="zh-CN" altLang="en-US" sz="1400" dirty="0"/>
              <a:t>将当次数据写入到</a:t>
            </a:r>
            <a:r>
              <a:rPr lang="en-US" altLang="zh-CN" sz="1400" dirty="0"/>
              <a:t>response</a:t>
            </a:r>
            <a:r>
              <a:rPr lang="zh-CN" altLang="en-US" sz="1400" dirty="0"/>
              <a:t>中并传回客户端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96C3B3E-EE5E-41C9-99AA-4FF4EA9BD589}"/>
              </a:ext>
            </a:extLst>
          </p:cNvPr>
          <p:cNvCxnSpPr>
            <a:cxnSpLocks/>
          </p:cNvCxnSpPr>
          <p:nvPr/>
        </p:nvCxnSpPr>
        <p:spPr>
          <a:xfrm flipH="1" flipV="1">
            <a:off x="5155183" y="3442078"/>
            <a:ext cx="2509098" cy="3354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A4DBBCEC-BAD2-4BEA-8A7F-B77AE8261C2F}"/>
              </a:ext>
            </a:extLst>
          </p:cNvPr>
          <p:cNvSpPr txBox="1"/>
          <p:nvPr/>
        </p:nvSpPr>
        <p:spPr>
          <a:xfrm>
            <a:off x="7703970" y="3535789"/>
            <a:ext cx="3945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7. </a:t>
            </a:r>
            <a:r>
              <a:rPr lang="zh-CN" altLang="en-US" sz="1400" dirty="0"/>
              <a:t>等待</a:t>
            </a:r>
            <a:r>
              <a:rPr lang="en-US" altLang="zh-CN" sz="1400" dirty="0" err="1"/>
              <a:t>delayInterval</a:t>
            </a:r>
            <a:r>
              <a:rPr lang="zh-CN" altLang="en-US" sz="1400" dirty="0"/>
              <a:t>毫秒，又步骤</a:t>
            </a:r>
            <a:r>
              <a:rPr lang="en-US" altLang="zh-CN" sz="1400" dirty="0"/>
              <a:t>1</a:t>
            </a:r>
            <a:r>
              <a:rPr lang="zh-CN" altLang="en-US" sz="1400" dirty="0"/>
              <a:t>执行一次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0C2755B6-0A4F-454E-8E0F-68586BB1A6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23"/>
          <a:stretch/>
        </p:blipFill>
        <p:spPr>
          <a:xfrm>
            <a:off x="163866" y="4392738"/>
            <a:ext cx="4026563" cy="2362999"/>
          </a:xfrm>
          <a:prstGeom prst="rect">
            <a:avLst/>
          </a:prstGeom>
        </p:spPr>
      </p:pic>
      <p:sp>
        <p:nvSpPr>
          <p:cNvPr id="47" name="椭圆 46">
            <a:extLst>
              <a:ext uri="{FF2B5EF4-FFF2-40B4-BE49-F238E27FC236}">
                <a16:creationId xmlns:a16="http://schemas.microsoft.com/office/drawing/2014/main" id="{DA28D4F5-424D-4F85-AC9D-9DAADA8D78DA}"/>
              </a:ext>
            </a:extLst>
          </p:cNvPr>
          <p:cNvSpPr/>
          <p:nvPr/>
        </p:nvSpPr>
        <p:spPr>
          <a:xfrm>
            <a:off x="157632" y="292922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BA991EF-579F-493D-8E38-F9D27DF9186C}"/>
              </a:ext>
            </a:extLst>
          </p:cNvPr>
          <p:cNvSpPr txBox="1"/>
          <p:nvPr/>
        </p:nvSpPr>
        <p:spPr>
          <a:xfrm>
            <a:off x="315855" y="4007847"/>
            <a:ext cx="28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文件</a:t>
            </a:r>
            <a:r>
              <a:rPr lang="en-US" altLang="zh-CN" sz="1600" dirty="0"/>
              <a:t>content</a:t>
            </a:r>
            <a:r>
              <a:rPr lang="zh-CN" altLang="en-US" sz="1600" dirty="0"/>
              <a:t>，以及编号说明</a:t>
            </a: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0B8762BE-FD65-438B-A260-5F18175CA534}"/>
              </a:ext>
            </a:extLst>
          </p:cNvPr>
          <p:cNvSpPr/>
          <p:nvPr/>
        </p:nvSpPr>
        <p:spPr>
          <a:xfrm>
            <a:off x="157632" y="4038917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30CD097-651F-41C3-BB91-E19F5BB047E1}"/>
              </a:ext>
            </a:extLst>
          </p:cNvPr>
          <p:cNvSpPr txBox="1"/>
          <p:nvPr/>
        </p:nvSpPr>
        <p:spPr>
          <a:xfrm>
            <a:off x="4315803" y="4694453"/>
            <a:ext cx="382515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左图</a:t>
            </a:r>
            <a:r>
              <a:rPr lang="zh-CN" altLang="en-US" sz="1400" dirty="0"/>
              <a:t>是在请求</a:t>
            </a:r>
            <a:r>
              <a:rPr lang="en-US" altLang="zh-CN" sz="1400" dirty="0"/>
              <a:t>dashtest_2sDASH_1080p.html</a:t>
            </a:r>
            <a:r>
              <a:rPr lang="zh-CN" altLang="en-US" sz="1400" dirty="0"/>
              <a:t>时，</a:t>
            </a:r>
            <a:r>
              <a:rPr lang="en-US" altLang="zh-CN" sz="1400" dirty="0"/>
              <a:t>content</a:t>
            </a:r>
            <a:r>
              <a:rPr lang="zh-CN" altLang="en-US" sz="1400" dirty="0"/>
              <a:t>这个变量的具体内容，会发现其包含一个</a:t>
            </a:r>
            <a:r>
              <a:rPr lang="en-US" altLang="zh-CN" sz="1400" dirty="0"/>
              <a:t>3188</a:t>
            </a:r>
            <a:r>
              <a:rPr lang="zh-CN" altLang="en-US" sz="1400" dirty="0"/>
              <a:t>的数列，与</a:t>
            </a:r>
            <a:r>
              <a:rPr lang="zh-CN" altLang="en-US" sz="1400" dirty="0">
                <a:solidFill>
                  <a:srgbClr val="FF0000"/>
                </a:solidFill>
              </a:rPr>
              <a:t>右图</a:t>
            </a:r>
            <a:r>
              <a:rPr lang="zh-CN" altLang="en-US" sz="1400" dirty="0"/>
              <a:t>中文件大小</a:t>
            </a:r>
            <a:r>
              <a:rPr lang="en-US" altLang="zh-CN" sz="1400" dirty="0"/>
              <a:t>3188 Byte</a:t>
            </a:r>
            <a:r>
              <a:rPr lang="zh-CN" altLang="en-US" sz="1400" dirty="0"/>
              <a:t>是一样的。因此这个</a:t>
            </a:r>
            <a:r>
              <a:rPr lang="en-US" altLang="zh-CN" sz="1400" dirty="0"/>
              <a:t>content</a:t>
            </a:r>
            <a:r>
              <a:rPr lang="zh-CN" altLang="en-US" sz="1400" dirty="0"/>
              <a:t>中每个元素对应一个</a:t>
            </a:r>
            <a:r>
              <a:rPr lang="en-US" altLang="zh-CN" sz="1400" dirty="0"/>
              <a:t>byte</a:t>
            </a:r>
            <a:r>
              <a:rPr lang="zh-CN" altLang="en-US" sz="1400" dirty="0"/>
              <a:t>。通过</a:t>
            </a:r>
            <a:r>
              <a:rPr lang="en-US" altLang="zh-CN" sz="1400" dirty="0"/>
              <a:t>index</a:t>
            </a:r>
            <a:r>
              <a:rPr lang="zh-CN" altLang="en-US" sz="1400" dirty="0"/>
              <a:t>索引这个</a:t>
            </a:r>
            <a:r>
              <a:rPr lang="en-US" altLang="zh-CN" sz="1400" dirty="0"/>
              <a:t>content</a:t>
            </a:r>
            <a:r>
              <a:rPr lang="zh-CN" altLang="en-US" sz="1400" dirty="0"/>
              <a:t>的内容，就可以实现将文件分割并按照自己想要的速率发送的目的。这就是控制速率的实现依据。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194334FD-3732-49F6-B038-7090CD6E3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955" y="4315635"/>
            <a:ext cx="3977669" cy="2259715"/>
          </a:xfrm>
          <a:prstGeom prst="rect">
            <a:avLst/>
          </a:prstGeom>
        </p:spPr>
      </p:pic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FB6A66A-4BF9-49B0-855C-451AF1B19F11}"/>
              </a:ext>
            </a:extLst>
          </p:cNvPr>
          <p:cNvCxnSpPr>
            <a:cxnSpLocks/>
          </p:cNvCxnSpPr>
          <p:nvPr/>
        </p:nvCxnSpPr>
        <p:spPr>
          <a:xfrm flipV="1">
            <a:off x="0" y="3862729"/>
            <a:ext cx="12192000" cy="71584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326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79A85F4-BDA8-4DE1-BEFA-3004EAC32B68}"/>
              </a:ext>
            </a:extLst>
          </p:cNvPr>
          <p:cNvSpPr txBox="1"/>
          <p:nvPr/>
        </p:nvSpPr>
        <p:spPr>
          <a:xfrm>
            <a:off x="538113" y="196783"/>
            <a:ext cx="4755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2. http</a:t>
            </a:r>
            <a:r>
              <a:rPr lang="zh-CN" altLang="en-US" sz="1600" dirty="0"/>
              <a:t>服务器程序以及相关文件存放位置说明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A2D4E16-3D07-41B5-9CF6-FF06882B4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13" y="677577"/>
            <a:ext cx="8317782" cy="306130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84DFCF2-8660-44B9-B259-C97F8EB78836}"/>
              </a:ext>
            </a:extLst>
          </p:cNvPr>
          <p:cNvSpPr txBox="1"/>
          <p:nvPr/>
        </p:nvSpPr>
        <p:spPr>
          <a:xfrm>
            <a:off x="715915" y="3881120"/>
            <a:ext cx="113152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需要将</a:t>
            </a:r>
            <a:r>
              <a:rPr lang="en-US" altLang="zh-CN" sz="1400" dirty="0">
                <a:solidFill>
                  <a:srgbClr val="FF0000"/>
                </a:solidFill>
              </a:rPr>
              <a:t>server3.js</a:t>
            </a:r>
            <a:r>
              <a:rPr lang="zh-CN" altLang="en-US" sz="1400" dirty="0"/>
              <a:t>放在</a:t>
            </a:r>
            <a:r>
              <a:rPr lang="en-US" altLang="zh-CN" sz="1400" dirty="0">
                <a:solidFill>
                  <a:srgbClr val="FF0000"/>
                </a:solidFill>
              </a:rPr>
              <a:t>html</a:t>
            </a:r>
            <a:r>
              <a:rPr lang="zh-CN" altLang="en-US" sz="1400" dirty="0"/>
              <a:t>，</a:t>
            </a:r>
            <a:r>
              <a:rPr lang="en-US" altLang="zh-CN" sz="1400" dirty="0">
                <a:solidFill>
                  <a:srgbClr val="FF0000"/>
                </a:solidFill>
              </a:rPr>
              <a:t>dash-</a:t>
            </a:r>
            <a:r>
              <a:rPr lang="en-US" altLang="zh-CN" sz="1400" dirty="0" err="1">
                <a:solidFill>
                  <a:srgbClr val="FF0000"/>
                </a:solidFill>
              </a:rPr>
              <a:t>js</a:t>
            </a:r>
            <a:r>
              <a:rPr lang="zh-CN" altLang="en-US" sz="1400" dirty="0">
                <a:solidFill>
                  <a:srgbClr val="FF0000"/>
                </a:solidFill>
              </a:rPr>
              <a:t>文件夹，</a:t>
            </a:r>
            <a:r>
              <a:rPr lang="en-US" altLang="zh-CN" sz="1400" dirty="0" err="1">
                <a:solidFill>
                  <a:srgbClr val="FF0000"/>
                </a:solidFill>
              </a:rPr>
              <a:t>throughputTrace</a:t>
            </a:r>
            <a:r>
              <a:rPr lang="zh-CN" altLang="en-US" sz="1400" dirty="0">
                <a:solidFill>
                  <a:srgbClr val="FF0000"/>
                </a:solidFill>
              </a:rPr>
              <a:t>文件夹</a:t>
            </a:r>
            <a:r>
              <a:rPr lang="zh-CN" altLang="en-US" sz="1400" dirty="0"/>
              <a:t>以及</a:t>
            </a:r>
            <a:r>
              <a:rPr lang="en-US" altLang="zh-CN" sz="1400" dirty="0">
                <a:solidFill>
                  <a:srgbClr val="FF0000"/>
                </a:solidFill>
              </a:rPr>
              <a:t>DASH</a:t>
            </a:r>
            <a:r>
              <a:rPr lang="zh-CN" altLang="en-US" sz="1400" dirty="0">
                <a:solidFill>
                  <a:srgbClr val="FF0000"/>
                </a:solidFill>
              </a:rPr>
              <a:t>视频</a:t>
            </a:r>
            <a:r>
              <a:rPr lang="en-US" altLang="zh-CN" sz="1400" dirty="0">
                <a:solidFill>
                  <a:srgbClr val="FF0000"/>
                </a:solidFill>
              </a:rPr>
              <a:t>segments</a:t>
            </a:r>
            <a:r>
              <a:rPr lang="zh-CN" altLang="en-US" sz="1400" dirty="0">
                <a:solidFill>
                  <a:srgbClr val="FF0000"/>
                </a:solidFill>
              </a:rPr>
              <a:t>文件夹</a:t>
            </a:r>
            <a:r>
              <a:rPr lang="zh-CN" altLang="en-US" sz="1400" dirty="0"/>
              <a:t>一起。因为在运行</a:t>
            </a:r>
            <a:r>
              <a:rPr lang="en-US" altLang="zh-CN" sz="1400" dirty="0"/>
              <a:t>node.js</a:t>
            </a:r>
            <a:r>
              <a:rPr lang="zh-CN" altLang="en-US" sz="1400" dirty="0"/>
              <a:t>中运行了</a:t>
            </a:r>
            <a:r>
              <a:rPr lang="en-US" altLang="zh-CN" sz="1400" dirty="0">
                <a:solidFill>
                  <a:srgbClr val="FF0000"/>
                </a:solidFill>
              </a:rPr>
              <a:t>server3.js</a:t>
            </a:r>
            <a:r>
              <a:rPr lang="zh-CN" altLang="en-US" sz="1400" dirty="0"/>
              <a:t>之后，会自动将</a:t>
            </a:r>
            <a:r>
              <a:rPr lang="en-US" altLang="zh-CN" sz="1400" dirty="0">
                <a:solidFill>
                  <a:srgbClr val="FF0000"/>
                </a:solidFill>
              </a:rPr>
              <a:t>server3.js</a:t>
            </a:r>
            <a:r>
              <a:rPr lang="zh-CN" altLang="en-US" sz="1400" dirty="0"/>
              <a:t>所在的文件夹挂在服务器上，提供访问。网址是</a:t>
            </a:r>
            <a:r>
              <a:rPr lang="en-US" altLang="zh-CN" sz="1400" dirty="0">
                <a:hlinkClick r:id="rId3"/>
              </a:rPr>
              <a:t>http://localhost:8080</a:t>
            </a:r>
            <a:r>
              <a:rPr lang="zh-CN" altLang="en-US" sz="1400" dirty="0"/>
              <a:t>或者</a:t>
            </a:r>
            <a:r>
              <a:rPr lang="en-US" altLang="zh-CN" sz="1400" dirty="0">
                <a:hlinkClick r:id="rId4"/>
              </a:rPr>
              <a:t>http://127.0.0.1:8080</a:t>
            </a:r>
            <a:r>
              <a:rPr lang="zh-CN" altLang="en-US" sz="1400" dirty="0">
                <a:hlinkClick r:id="rId4"/>
              </a:rPr>
              <a:t>。</a:t>
            </a:r>
            <a:r>
              <a:rPr lang="en-US" altLang="zh-CN" sz="1400" dirty="0">
                <a:hlinkClick r:id="rId4"/>
              </a:rPr>
              <a:t>localhost</a:t>
            </a:r>
            <a:r>
              <a:rPr lang="zh-CN" altLang="en-US" sz="1400" dirty="0">
                <a:hlinkClick r:id="rId4"/>
              </a:rPr>
              <a:t>的</a:t>
            </a:r>
            <a:r>
              <a:rPr lang="en-US" altLang="zh-CN" sz="1400" dirty="0">
                <a:hlinkClick r:id="rId4"/>
              </a:rPr>
              <a:t>IP</a:t>
            </a:r>
            <a:r>
              <a:rPr lang="zh-CN" altLang="en-US" sz="1400" dirty="0"/>
              <a:t>可能会根据不同环境发生变化，因此在发生变化时，</a:t>
            </a:r>
            <a:r>
              <a:rPr lang="en-US" altLang="zh-CN" sz="1400" dirty="0"/>
              <a:t>html</a:t>
            </a:r>
            <a:r>
              <a:rPr lang="zh-CN" altLang="en-US" sz="1400" dirty="0"/>
              <a:t>中关于</a:t>
            </a:r>
            <a:r>
              <a:rPr lang="en-US" altLang="zh-CN" sz="1400" dirty="0" err="1">
                <a:solidFill>
                  <a:srgbClr val="FF0000"/>
                </a:solidFill>
              </a:rPr>
              <a:t>mpd</a:t>
            </a:r>
            <a:r>
              <a:rPr lang="zh-CN" altLang="en-US" sz="1400" dirty="0">
                <a:solidFill>
                  <a:srgbClr val="FF0000"/>
                </a:solidFill>
              </a:rPr>
              <a:t>文件</a:t>
            </a:r>
            <a:r>
              <a:rPr lang="zh-CN" altLang="en-US" sz="1400" dirty="0"/>
              <a:t>的链接，以及</a:t>
            </a:r>
            <a:r>
              <a:rPr lang="en-US" altLang="zh-CN" sz="1400" dirty="0" err="1"/>
              <a:t>mpd</a:t>
            </a:r>
            <a:r>
              <a:rPr lang="zh-CN" altLang="en-US" sz="1400" dirty="0"/>
              <a:t>中的</a:t>
            </a:r>
            <a:r>
              <a:rPr lang="en-US" altLang="zh-CN" sz="1400" dirty="0" err="1">
                <a:solidFill>
                  <a:srgbClr val="FF0000"/>
                </a:solidFill>
              </a:rPr>
              <a:t>baseurl</a:t>
            </a:r>
            <a:r>
              <a:rPr lang="zh-CN" altLang="en-US" sz="1400" dirty="0"/>
              <a:t>都需要做改动。</a:t>
            </a:r>
            <a:endParaRPr lang="en-US" altLang="zh-CN" sz="1400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0F4EB28-8E3B-44AA-9F66-5D405BCF3247}"/>
              </a:ext>
            </a:extLst>
          </p:cNvPr>
          <p:cNvSpPr/>
          <p:nvPr/>
        </p:nvSpPr>
        <p:spPr>
          <a:xfrm>
            <a:off x="538113" y="3987783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6A51B8-EE0C-4B13-ABB2-DAA9770C78D8}"/>
              </a:ext>
            </a:extLst>
          </p:cNvPr>
          <p:cNvSpPr txBox="1"/>
          <p:nvPr/>
        </p:nvSpPr>
        <p:spPr>
          <a:xfrm>
            <a:off x="715915" y="4646353"/>
            <a:ext cx="11315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Nodejs-http-server</a:t>
            </a:r>
            <a:r>
              <a:rPr lang="zh-CN" altLang="en-US" sz="1400" dirty="0"/>
              <a:t> </a:t>
            </a:r>
            <a:r>
              <a:rPr lang="en-US" altLang="zh-CN" sz="1400" dirty="0" err="1"/>
              <a:t>Hirstorical</a:t>
            </a:r>
            <a:r>
              <a:rPr lang="zh-CN" altLang="en-US" sz="1400" dirty="0"/>
              <a:t> </a:t>
            </a:r>
            <a:r>
              <a:rPr lang="en-US" altLang="zh-CN" sz="1400" dirty="0"/>
              <a:t>Versions</a:t>
            </a:r>
            <a:r>
              <a:rPr lang="zh-CN" altLang="en-US" sz="1400" dirty="0"/>
              <a:t> 和 </a:t>
            </a:r>
            <a:r>
              <a:rPr lang="en-US" altLang="zh-CN" sz="1400" dirty="0"/>
              <a:t>Dash-JS historical Versions</a:t>
            </a:r>
            <a:r>
              <a:rPr lang="zh-CN" altLang="en-US" sz="1400" dirty="0"/>
              <a:t>分别存放服务器程序和用于客户端的</a:t>
            </a:r>
            <a:r>
              <a:rPr lang="en-US" altLang="zh-CN" sz="1400" dirty="0"/>
              <a:t>dash-</a:t>
            </a:r>
            <a:r>
              <a:rPr lang="en-US" altLang="zh-CN" sz="1400" dirty="0" err="1"/>
              <a:t>js</a:t>
            </a:r>
            <a:r>
              <a:rPr lang="zh-CN" altLang="en-US" sz="1400" dirty="0"/>
              <a:t>程序的历史版本。</a:t>
            </a:r>
            <a:endParaRPr lang="en-US" altLang="zh-CN" sz="1400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FD7E6D4-28E4-4CEF-AF57-056F0F6F0F5D}"/>
              </a:ext>
            </a:extLst>
          </p:cNvPr>
          <p:cNvSpPr/>
          <p:nvPr/>
        </p:nvSpPr>
        <p:spPr>
          <a:xfrm>
            <a:off x="532668" y="4753016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437F68-B13C-4FFE-9A9C-03D4AF825788}"/>
              </a:ext>
            </a:extLst>
          </p:cNvPr>
          <p:cNvSpPr txBox="1"/>
          <p:nvPr/>
        </p:nvSpPr>
        <p:spPr>
          <a:xfrm>
            <a:off x="538113" y="5295366"/>
            <a:ext cx="4755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3. http</a:t>
            </a:r>
            <a:r>
              <a:rPr lang="zh-CN" altLang="en-US" sz="1600" dirty="0"/>
              <a:t>服务器开启</a:t>
            </a:r>
            <a:r>
              <a:rPr lang="en-US" altLang="zh-CN" sz="1600" dirty="0"/>
              <a:t>/</a:t>
            </a:r>
            <a:r>
              <a:rPr lang="zh-CN" altLang="en-US" sz="1600" dirty="0"/>
              <a:t>关闭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49251D-0DE6-401C-91CB-0DAD119547D9}"/>
              </a:ext>
            </a:extLst>
          </p:cNvPr>
          <p:cNvSpPr txBox="1"/>
          <p:nvPr/>
        </p:nvSpPr>
        <p:spPr>
          <a:xfrm>
            <a:off x="715916" y="5724708"/>
            <a:ext cx="49629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zh-CN" altLang="en-US" sz="1400" dirty="0"/>
              <a:t>打开</a:t>
            </a:r>
            <a:r>
              <a:rPr lang="en-US" altLang="zh-CN" sz="1400" dirty="0" err="1"/>
              <a:t>cmd</a:t>
            </a:r>
            <a:r>
              <a:rPr lang="zh-CN" altLang="en-US" sz="1400" dirty="0"/>
              <a:t>，并</a:t>
            </a:r>
            <a:r>
              <a:rPr lang="en-US" altLang="zh-CN" sz="1400" dirty="0"/>
              <a:t>cd </a:t>
            </a:r>
            <a:r>
              <a:rPr lang="zh-CN" altLang="en-US" sz="1400" dirty="0"/>
              <a:t>进入</a:t>
            </a:r>
            <a:r>
              <a:rPr lang="en-US" altLang="zh-CN" sz="1400" dirty="0"/>
              <a:t>server3.js</a:t>
            </a:r>
            <a:r>
              <a:rPr lang="zh-CN" altLang="en-US" sz="1400" dirty="0"/>
              <a:t>所在的文件夹</a:t>
            </a:r>
            <a:endParaRPr lang="en-US" altLang="zh-CN" sz="1400" dirty="0"/>
          </a:p>
          <a:p>
            <a:pPr marL="342900" indent="-342900">
              <a:buAutoNum type="arabicParenBoth"/>
            </a:pPr>
            <a:r>
              <a:rPr lang="zh-CN" altLang="en-US" sz="1400" dirty="0"/>
              <a:t>输入命令 </a:t>
            </a:r>
            <a:r>
              <a:rPr lang="en-US" altLang="zh-CN" sz="1400" dirty="0"/>
              <a:t>node server3.js</a:t>
            </a:r>
            <a:r>
              <a:rPr lang="zh-CN" altLang="en-US" sz="1400" dirty="0"/>
              <a:t>，即打开了服务器</a:t>
            </a:r>
            <a:endParaRPr lang="en-US" altLang="zh-CN" sz="1400" dirty="0"/>
          </a:p>
          <a:p>
            <a:pPr marL="342900" indent="-342900">
              <a:buAutoNum type="arabicParenBoth"/>
            </a:pPr>
            <a:r>
              <a:rPr lang="zh-CN" altLang="en-US" sz="1400" dirty="0"/>
              <a:t>同时按住 </a:t>
            </a:r>
            <a:r>
              <a:rPr lang="en-US" altLang="zh-CN" sz="1400" dirty="0" err="1"/>
              <a:t>ctrl+c</a:t>
            </a:r>
            <a:r>
              <a:rPr lang="en-US" altLang="zh-CN" sz="1400" dirty="0"/>
              <a:t> </a:t>
            </a:r>
            <a:r>
              <a:rPr lang="zh-CN" altLang="en-US" sz="1400" dirty="0"/>
              <a:t>即可关闭服务器（或者直接关闭</a:t>
            </a:r>
            <a:r>
              <a:rPr lang="en-US" altLang="zh-CN" sz="1400" dirty="0" err="1"/>
              <a:t>cmd</a:t>
            </a:r>
            <a:r>
              <a:rPr lang="zh-CN" altLang="en-US" sz="1400" dirty="0"/>
              <a:t>窗口）</a:t>
            </a:r>
            <a:endParaRPr lang="en-US" altLang="zh-CN" sz="14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542BC21-9391-452A-A3F6-69176F68E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8022" y="5633920"/>
            <a:ext cx="4262392" cy="81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02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C1CAFC-6A36-40D2-98D0-036BCA3A80D3}"/>
              </a:ext>
            </a:extLst>
          </p:cNvPr>
          <p:cNvSpPr txBox="1"/>
          <p:nvPr/>
        </p:nvSpPr>
        <p:spPr>
          <a:xfrm>
            <a:off x="449880" y="4587428"/>
            <a:ext cx="4755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5. </a:t>
            </a:r>
            <a:r>
              <a:rPr lang="zh-CN" altLang="en-US" sz="1600" dirty="0"/>
              <a:t>访问</a:t>
            </a:r>
            <a:r>
              <a:rPr lang="en-US" altLang="zh-CN" sz="1600" dirty="0"/>
              <a:t>http</a:t>
            </a:r>
            <a:r>
              <a:rPr lang="zh-CN" altLang="en-US" sz="1600" dirty="0"/>
              <a:t>服务器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49FDE0-F310-4490-8445-80B290EF365D}"/>
              </a:ext>
            </a:extLst>
          </p:cNvPr>
          <p:cNvSpPr txBox="1"/>
          <p:nvPr/>
        </p:nvSpPr>
        <p:spPr>
          <a:xfrm>
            <a:off x="523410" y="699994"/>
            <a:ext cx="11315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Trace</a:t>
            </a:r>
            <a:r>
              <a:rPr lang="zh-CN" altLang="en-US" sz="1400" dirty="0"/>
              <a:t>选择：在确定服务器是关闭的情况下，用</a:t>
            </a:r>
            <a:r>
              <a:rPr lang="en-US" altLang="zh-CN" sz="1400" dirty="0"/>
              <a:t>sublime text3</a:t>
            </a:r>
            <a:r>
              <a:rPr lang="zh-CN" altLang="en-US" sz="1400" dirty="0"/>
              <a:t>打开</a:t>
            </a:r>
            <a:r>
              <a:rPr lang="en-US" altLang="zh-CN" sz="1400" dirty="0"/>
              <a:t>server3.js</a:t>
            </a:r>
            <a:r>
              <a:rPr lang="zh-CN" altLang="en-US" sz="1400" dirty="0"/>
              <a:t>，修改下行中</a:t>
            </a:r>
            <a:r>
              <a:rPr lang="en-US" altLang="zh-CN" sz="1400" dirty="0"/>
              <a:t>thruputTrace1.js</a:t>
            </a:r>
            <a:r>
              <a:rPr lang="zh-CN" altLang="en-US" sz="1400" dirty="0"/>
              <a:t>。同样的，可以用</a:t>
            </a:r>
            <a:r>
              <a:rPr lang="en-US" altLang="zh-CN" sz="1400" dirty="0"/>
              <a:t>sublime text3</a:t>
            </a:r>
            <a:r>
              <a:rPr lang="zh-CN" altLang="en-US" sz="1400" dirty="0"/>
              <a:t>打开这个</a:t>
            </a:r>
            <a:r>
              <a:rPr lang="en-US" altLang="zh-CN" sz="1400" dirty="0"/>
              <a:t>trace</a:t>
            </a:r>
            <a:r>
              <a:rPr lang="zh-CN" altLang="en-US" sz="1400" dirty="0"/>
              <a:t>文件来查看具体值是多少。如果</a:t>
            </a:r>
            <a:r>
              <a:rPr lang="en-US" altLang="zh-CN" sz="1400" dirty="0"/>
              <a:t>trace</a:t>
            </a:r>
            <a:r>
              <a:rPr lang="zh-CN" altLang="en-US" sz="1400" dirty="0"/>
              <a:t>中的吞吐量单位是</a:t>
            </a:r>
            <a:r>
              <a:rPr lang="en-US" altLang="zh-CN" sz="1400" dirty="0" err="1"/>
              <a:t>Mbps</a:t>
            </a:r>
            <a:r>
              <a:rPr lang="zh-CN" altLang="en-US" sz="1400" dirty="0"/>
              <a:t>，要注意在</a:t>
            </a:r>
            <a:r>
              <a:rPr lang="en-US" altLang="zh-CN" sz="1400" dirty="0"/>
              <a:t>server.js</a:t>
            </a:r>
            <a:r>
              <a:rPr lang="zh-CN" altLang="en-US" sz="1400" dirty="0"/>
              <a:t>最后那里的</a:t>
            </a:r>
            <a:r>
              <a:rPr lang="en-US" altLang="zh-CN" sz="1400" dirty="0" err="1"/>
              <a:t>responseNext</a:t>
            </a:r>
            <a:r>
              <a:rPr lang="zh-CN" altLang="en-US" sz="1400" dirty="0"/>
              <a:t>，应该再乘以</a:t>
            </a:r>
            <a:r>
              <a:rPr lang="en-US" altLang="zh-CN" sz="1400" dirty="0"/>
              <a:t>1024*1024</a:t>
            </a:r>
            <a:r>
              <a:rPr lang="zh-CN" altLang="en-US" sz="1400" dirty="0"/>
              <a:t>。</a:t>
            </a:r>
            <a:endParaRPr lang="en-US" altLang="zh-CN" sz="1400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6430641-64C7-489E-9622-E23F32662A44}"/>
              </a:ext>
            </a:extLst>
          </p:cNvPr>
          <p:cNvSpPr/>
          <p:nvPr/>
        </p:nvSpPr>
        <p:spPr>
          <a:xfrm>
            <a:off x="338111" y="794482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13DDF0-EF09-48DD-A991-FE3FFC63A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10" y="1285609"/>
            <a:ext cx="8698474" cy="242748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2AED8AC5-B599-46DF-8C70-BF3458A5778B}"/>
              </a:ext>
            </a:extLst>
          </p:cNvPr>
          <p:cNvSpPr/>
          <p:nvPr/>
        </p:nvSpPr>
        <p:spPr>
          <a:xfrm>
            <a:off x="338111" y="2073039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0767BE-2DC3-4AFB-9840-B95798C6A435}"/>
              </a:ext>
            </a:extLst>
          </p:cNvPr>
          <p:cNvSpPr txBox="1"/>
          <p:nvPr/>
        </p:nvSpPr>
        <p:spPr>
          <a:xfrm>
            <a:off x="456645" y="1978354"/>
            <a:ext cx="113152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Trace</a:t>
            </a:r>
            <a:r>
              <a:rPr lang="zh-CN" altLang="en-US" sz="1400" dirty="0"/>
              <a:t>新建：</a:t>
            </a:r>
            <a:endParaRPr lang="en-US" altLang="zh-CN" sz="1400" dirty="0"/>
          </a:p>
          <a:p>
            <a:pPr marL="342900" indent="-342900">
              <a:buAutoNum type="arabicParenBoth"/>
            </a:pPr>
            <a:r>
              <a:rPr lang="en-US" altLang="zh-CN" sz="1400" dirty="0" err="1"/>
              <a:t>throughputTrace</a:t>
            </a:r>
            <a:r>
              <a:rPr lang="zh-CN" altLang="en-US" sz="1400" dirty="0"/>
              <a:t>文件夹中，复制一个</a:t>
            </a:r>
            <a:r>
              <a:rPr lang="en-US" altLang="zh-CN" sz="1400" dirty="0"/>
              <a:t>thruputTrace-template.js</a:t>
            </a:r>
            <a:r>
              <a:rPr lang="zh-CN" altLang="en-US" sz="1400" dirty="0"/>
              <a:t>，并将其改名为</a:t>
            </a:r>
            <a:r>
              <a:rPr lang="en-US" altLang="zh-CN" sz="1400" dirty="0"/>
              <a:t>thruputTraceN.js</a:t>
            </a:r>
            <a:r>
              <a:rPr lang="zh-CN" altLang="en-US" sz="1400" dirty="0"/>
              <a:t>，其中</a:t>
            </a:r>
            <a:r>
              <a:rPr lang="en-US" altLang="zh-CN" sz="1400" dirty="0"/>
              <a:t>N</a:t>
            </a:r>
            <a:r>
              <a:rPr lang="zh-CN" altLang="en-US" sz="1400" dirty="0"/>
              <a:t>是一个具体数值。</a:t>
            </a:r>
            <a:endParaRPr lang="en-US" altLang="zh-CN" sz="1400" dirty="0"/>
          </a:p>
          <a:p>
            <a:pPr marL="342900" indent="-342900">
              <a:buAutoNum type="arabicParenBoth"/>
            </a:pPr>
            <a:r>
              <a:rPr lang="zh-CN" altLang="en-US" sz="1400" dirty="0"/>
              <a:t>新建一个</a:t>
            </a:r>
            <a:r>
              <a:rPr lang="en-US" altLang="zh-CN" sz="1400" dirty="0"/>
              <a:t>excel</a:t>
            </a:r>
            <a:r>
              <a:rPr lang="zh-CN" altLang="en-US" sz="1400" dirty="0"/>
              <a:t>文档，其名字为</a:t>
            </a:r>
            <a:r>
              <a:rPr lang="en-US" altLang="zh-CN" sz="1400" dirty="0"/>
              <a:t>traceN.xlsx</a:t>
            </a:r>
            <a:r>
              <a:rPr lang="zh-CN" altLang="en-US" sz="1400" dirty="0"/>
              <a:t>，其中</a:t>
            </a:r>
            <a:r>
              <a:rPr lang="en-US" altLang="zh-CN" sz="1400" dirty="0"/>
              <a:t>N</a:t>
            </a:r>
            <a:r>
              <a:rPr lang="zh-CN" altLang="en-US" sz="1400" dirty="0"/>
              <a:t>与步骤</a:t>
            </a:r>
            <a:r>
              <a:rPr lang="en-US" altLang="zh-CN" sz="1400" dirty="0"/>
              <a:t>(1)</a:t>
            </a:r>
            <a:r>
              <a:rPr lang="zh-CN" altLang="en-US" sz="1400" dirty="0"/>
              <a:t>中的值一样</a:t>
            </a:r>
            <a:endParaRPr lang="en-US" altLang="zh-CN" sz="1400" dirty="0"/>
          </a:p>
          <a:p>
            <a:pPr marL="342900" indent="-342900">
              <a:buAutoNum type="arabicParenBoth"/>
            </a:pPr>
            <a:r>
              <a:rPr lang="zh-CN" altLang="en-US" sz="1400" dirty="0"/>
              <a:t>将一个实验测得的</a:t>
            </a:r>
            <a:r>
              <a:rPr lang="en-US" altLang="zh-CN" sz="1400" dirty="0" err="1"/>
              <a:t>throuput</a:t>
            </a:r>
            <a:r>
              <a:rPr lang="zh-CN" altLang="en-US" sz="1400" dirty="0"/>
              <a:t>随时间变化的值复制到</a:t>
            </a:r>
            <a:r>
              <a:rPr lang="en-US" altLang="zh-CN" sz="1400" dirty="0"/>
              <a:t>traceN.xlsx</a:t>
            </a:r>
            <a:r>
              <a:rPr lang="zh-CN" altLang="en-US" sz="1400" dirty="0"/>
              <a:t>中的第一列，注意其行数要大于</a:t>
            </a:r>
            <a:r>
              <a:rPr lang="en-US" altLang="zh-CN" sz="1400" dirty="0"/>
              <a:t>600</a:t>
            </a:r>
            <a:r>
              <a:rPr lang="zh-CN" altLang="en-US" sz="1400" dirty="0"/>
              <a:t>多最好。</a:t>
            </a:r>
            <a:endParaRPr lang="en-US" altLang="zh-CN" sz="1400" dirty="0"/>
          </a:p>
          <a:p>
            <a:pPr marL="342900" indent="-342900">
              <a:buAutoNum type="arabicParenBoth"/>
            </a:pPr>
            <a:r>
              <a:rPr lang="zh-CN" altLang="en-US" sz="1400" dirty="0"/>
              <a:t>将</a:t>
            </a:r>
            <a:r>
              <a:rPr lang="en-US" altLang="zh-CN" sz="1400" dirty="0"/>
              <a:t>excel</a:t>
            </a:r>
            <a:r>
              <a:rPr lang="zh-CN" altLang="en-US" sz="1400" dirty="0"/>
              <a:t>中的第二列全部设置为逗号，具体就是把第一行和第二行都输入逗号，然后抹黑这两个，在双击右下角则所有行都变为逗号。</a:t>
            </a:r>
            <a:endParaRPr lang="en-US" altLang="zh-CN" sz="1400" dirty="0"/>
          </a:p>
          <a:p>
            <a:pPr marL="342900" indent="-342900">
              <a:buAutoNum type="arabicParenBoth"/>
            </a:pPr>
            <a:r>
              <a:rPr lang="zh-CN" altLang="en-US" sz="1400" dirty="0"/>
              <a:t>在</a:t>
            </a:r>
            <a:r>
              <a:rPr lang="en-US" altLang="zh-CN" sz="1400" dirty="0"/>
              <a:t>sublime text3</a:t>
            </a:r>
            <a:r>
              <a:rPr lang="zh-CN" altLang="en-US" sz="1400" dirty="0"/>
              <a:t>中打开新建的</a:t>
            </a:r>
            <a:r>
              <a:rPr lang="en-US" altLang="zh-CN" sz="1400" dirty="0"/>
              <a:t>thruputTraceN.js</a:t>
            </a:r>
            <a:r>
              <a:rPr lang="zh-CN" altLang="en-US" sz="1400" dirty="0"/>
              <a:t>，然后将</a:t>
            </a:r>
            <a:r>
              <a:rPr lang="en-US" altLang="zh-CN" sz="1400" dirty="0"/>
              <a:t>excel</a:t>
            </a:r>
            <a:r>
              <a:rPr lang="zh-CN" altLang="en-US" sz="1400" dirty="0"/>
              <a:t>中的第一二列复制粘贴到                                 中的第二行，并保存。</a:t>
            </a:r>
            <a:endParaRPr lang="en-US" altLang="zh-CN" sz="1400" dirty="0"/>
          </a:p>
          <a:p>
            <a:pPr marL="342900" indent="-342900">
              <a:buAutoNum type="arabicParenBoth"/>
            </a:pPr>
            <a:r>
              <a:rPr lang="zh-CN" altLang="en-US" sz="1400" dirty="0"/>
              <a:t>这样就可以在</a:t>
            </a:r>
            <a:r>
              <a:rPr lang="en-US" altLang="zh-CN" sz="1400" dirty="0"/>
              <a:t>server3.js</a:t>
            </a:r>
            <a:r>
              <a:rPr lang="zh-CN" altLang="en-US" sz="1400" dirty="0"/>
              <a:t>中通过修改</a:t>
            </a:r>
            <a:r>
              <a:rPr lang="en-US" altLang="zh-CN" sz="1400" dirty="0"/>
              <a:t>trace</a:t>
            </a:r>
            <a:r>
              <a:rPr lang="zh-CN" altLang="en-US" sz="1400" dirty="0"/>
              <a:t>的选择来使用新建的</a:t>
            </a:r>
            <a:r>
              <a:rPr lang="en-US" altLang="zh-CN" sz="1400" dirty="0"/>
              <a:t>trace</a:t>
            </a:r>
            <a:r>
              <a:rPr lang="zh-CN" altLang="en-US" sz="1400" dirty="0"/>
              <a:t>了。</a:t>
            </a:r>
            <a:endParaRPr lang="en-US" altLang="zh-CN" sz="1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42D4117-0662-4A51-9E85-EE6D04794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135" y="3107469"/>
            <a:ext cx="1499987" cy="511760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F5B47AB0-66B6-4236-A16F-2A472DA4F1B6}"/>
              </a:ext>
            </a:extLst>
          </p:cNvPr>
          <p:cNvSpPr/>
          <p:nvPr/>
        </p:nvSpPr>
        <p:spPr>
          <a:xfrm>
            <a:off x="338111" y="3815387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8EE42C-D804-4EC7-8F6B-B4735E3F124A}"/>
              </a:ext>
            </a:extLst>
          </p:cNvPr>
          <p:cNvSpPr txBox="1"/>
          <p:nvPr/>
        </p:nvSpPr>
        <p:spPr>
          <a:xfrm>
            <a:off x="507805" y="3730329"/>
            <a:ext cx="11315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注意：在</a:t>
            </a:r>
            <a:r>
              <a:rPr lang="en-US" altLang="zh-CN" sz="1400" dirty="0">
                <a:solidFill>
                  <a:srgbClr val="FF0000"/>
                </a:solidFill>
              </a:rPr>
              <a:t>trace</a:t>
            </a:r>
            <a:r>
              <a:rPr lang="zh-CN" altLang="en-US" sz="1400" dirty="0">
                <a:solidFill>
                  <a:srgbClr val="FF0000"/>
                </a:solidFill>
              </a:rPr>
              <a:t>选择时一定要先关闭服务器，然后在</a:t>
            </a:r>
            <a:r>
              <a:rPr lang="en-US" altLang="zh-CN" sz="1400" dirty="0">
                <a:solidFill>
                  <a:srgbClr val="FF0000"/>
                </a:solidFill>
              </a:rPr>
              <a:t>server3.js</a:t>
            </a:r>
            <a:r>
              <a:rPr lang="zh-CN" altLang="en-US" sz="1400" dirty="0">
                <a:solidFill>
                  <a:srgbClr val="FF0000"/>
                </a:solidFill>
              </a:rPr>
              <a:t>中修改完后，一定要再次启动服务器。这样方能完成</a:t>
            </a:r>
            <a:r>
              <a:rPr lang="en-US" altLang="zh-CN" sz="1400" dirty="0">
                <a:solidFill>
                  <a:srgbClr val="FF0000"/>
                </a:solidFill>
              </a:rPr>
              <a:t>trace</a:t>
            </a:r>
            <a:r>
              <a:rPr lang="zh-CN" altLang="en-US" sz="1400" dirty="0">
                <a:solidFill>
                  <a:srgbClr val="FF0000"/>
                </a:solidFill>
              </a:rPr>
              <a:t>的改变。</a:t>
            </a:r>
            <a:endParaRPr lang="en-US" altLang="zh-CN" sz="1400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20E9BC-5AC2-446D-A98A-4783E3B35F34}"/>
              </a:ext>
            </a:extLst>
          </p:cNvPr>
          <p:cNvSpPr txBox="1"/>
          <p:nvPr/>
        </p:nvSpPr>
        <p:spPr>
          <a:xfrm>
            <a:off x="449881" y="307875"/>
            <a:ext cx="4755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4. Throughput Trace</a:t>
            </a:r>
            <a:r>
              <a:rPr lang="zh-CN" altLang="en-US" sz="1600" dirty="0"/>
              <a:t>的选择与新建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65B03C4-5A37-46E6-9B79-ACAFE609CF9A}"/>
              </a:ext>
            </a:extLst>
          </p:cNvPr>
          <p:cNvSpPr/>
          <p:nvPr/>
        </p:nvSpPr>
        <p:spPr>
          <a:xfrm>
            <a:off x="338111" y="5047050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9B5C5E-ED3C-4021-8EDA-82116B6211E1}"/>
              </a:ext>
            </a:extLst>
          </p:cNvPr>
          <p:cNvSpPr txBox="1"/>
          <p:nvPr/>
        </p:nvSpPr>
        <p:spPr>
          <a:xfrm>
            <a:off x="507804" y="4942740"/>
            <a:ext cx="10898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在开启服务器后，打开</a:t>
            </a:r>
            <a:r>
              <a:rPr lang="en-US" altLang="zh-CN" sz="1400" dirty="0"/>
              <a:t>chrome</a:t>
            </a:r>
            <a:r>
              <a:rPr lang="zh-CN" altLang="en-US" sz="1400" dirty="0"/>
              <a:t>，并输入</a:t>
            </a:r>
            <a:r>
              <a:rPr lang="en-US" altLang="zh-CN" sz="1400" dirty="0">
                <a:hlinkClick r:id="rId4"/>
              </a:rPr>
              <a:t>http://localhost:8080</a:t>
            </a:r>
            <a:r>
              <a:rPr lang="zh-CN" altLang="en-US" sz="1400" dirty="0"/>
              <a:t>，</a:t>
            </a:r>
            <a:r>
              <a:rPr lang="en-US" altLang="zh-CN" sz="1400" dirty="0"/>
              <a:t>localhost</a:t>
            </a:r>
            <a:r>
              <a:rPr lang="zh-CN" altLang="en-US" sz="1400" dirty="0"/>
              <a:t>根据每台不一样，会有变化。</a:t>
            </a:r>
            <a:endParaRPr lang="en-US" altLang="zh-CN" sz="1400" dirty="0"/>
          </a:p>
          <a:p>
            <a:r>
              <a:rPr lang="zh-CN" altLang="en-US" sz="1400" dirty="0"/>
              <a:t>访问这个</a:t>
            </a:r>
            <a:r>
              <a:rPr lang="en-US" altLang="zh-CN" sz="1400" dirty="0" err="1"/>
              <a:t>ip</a:t>
            </a:r>
            <a:r>
              <a:rPr lang="zh-CN" altLang="en-US" sz="1400" dirty="0"/>
              <a:t>后就可以自动进行后面的视频播放了。注意，有时候不会自动播放，要及时点一下播放按钮，否则</a:t>
            </a:r>
            <a:r>
              <a:rPr lang="en-US" altLang="zh-CN" sz="1400" dirty="0"/>
              <a:t>buffer</a:t>
            </a:r>
            <a:r>
              <a:rPr lang="zh-CN" altLang="en-US" sz="1400" dirty="0"/>
              <a:t>那里会出现长时间不变的情况。同时在播放的时候，不能离开这个网页，否则</a:t>
            </a:r>
            <a:r>
              <a:rPr lang="en-US" altLang="zh-CN" sz="1400" dirty="0"/>
              <a:t>MSE</a:t>
            </a:r>
            <a:r>
              <a:rPr lang="zh-CN" altLang="en-US" sz="1400" dirty="0"/>
              <a:t>会自动暂停，</a:t>
            </a:r>
            <a:r>
              <a:rPr lang="en-US" altLang="zh-CN" sz="1400" dirty="0"/>
              <a:t>buffer</a:t>
            </a:r>
            <a:r>
              <a:rPr lang="zh-CN" altLang="en-US" sz="1400" dirty="0"/>
              <a:t>又会出现长时间不变情况。出现这些情况，会导致本次实验的数据无法使用，因为出现了人为因素导致的视频暂停。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950351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DA40C99-10FD-45F9-931B-07ED0B81CB80}"/>
              </a:ext>
            </a:extLst>
          </p:cNvPr>
          <p:cNvSpPr txBox="1"/>
          <p:nvPr/>
        </p:nvSpPr>
        <p:spPr>
          <a:xfrm>
            <a:off x="297481" y="208468"/>
            <a:ext cx="217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6. </a:t>
            </a:r>
            <a:r>
              <a:rPr lang="zh-CN" altLang="en-US" sz="1600" dirty="0"/>
              <a:t>实验结果保存规范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E4ECB5F-F23E-4A90-8020-D3D4BA01E075}"/>
              </a:ext>
            </a:extLst>
          </p:cNvPr>
          <p:cNvSpPr/>
          <p:nvPr/>
        </p:nvSpPr>
        <p:spPr>
          <a:xfrm>
            <a:off x="480351" y="779850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8AC53C-2B7C-4566-B13F-5A6446CF8713}"/>
              </a:ext>
            </a:extLst>
          </p:cNvPr>
          <p:cNvSpPr txBox="1"/>
          <p:nvPr/>
        </p:nvSpPr>
        <p:spPr>
          <a:xfrm>
            <a:off x="650044" y="675540"/>
            <a:ext cx="3594931" cy="307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新建一个文件夹，名称为</a:t>
            </a:r>
            <a:r>
              <a:rPr lang="en-US" altLang="zh-CN" sz="1400" dirty="0"/>
              <a:t>JS-Test-Repo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9ADBBAB-F378-402A-A541-1D89A0233984}"/>
              </a:ext>
            </a:extLst>
          </p:cNvPr>
          <p:cNvSpPr/>
          <p:nvPr/>
        </p:nvSpPr>
        <p:spPr>
          <a:xfrm>
            <a:off x="480351" y="1458087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10ED3A-C4C5-4794-951C-35ED15F6F716}"/>
              </a:ext>
            </a:extLst>
          </p:cNvPr>
          <p:cNvSpPr txBox="1"/>
          <p:nvPr/>
        </p:nvSpPr>
        <p:spPr>
          <a:xfrm>
            <a:off x="650044" y="1363598"/>
            <a:ext cx="62181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在这个文件中，按日期再分别建立文件夹，用以保存那日的实验数据</a:t>
            </a:r>
            <a:endParaRPr lang="en-US" altLang="zh-CN" sz="1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9BF761F-7F45-49A4-9E41-832A8FEDA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110" y="1198398"/>
            <a:ext cx="2352675" cy="638175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00E66EEA-0B7A-4A29-8FED-09BDAB74D98D}"/>
              </a:ext>
            </a:extLst>
          </p:cNvPr>
          <p:cNvSpPr/>
          <p:nvPr/>
        </p:nvSpPr>
        <p:spPr>
          <a:xfrm>
            <a:off x="480351" y="2119651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0DA99B-BF4A-4773-BBE3-A2EC956BE196}"/>
              </a:ext>
            </a:extLst>
          </p:cNvPr>
          <p:cNvSpPr txBox="1"/>
          <p:nvPr/>
        </p:nvSpPr>
        <p:spPr>
          <a:xfrm>
            <a:off x="598884" y="2051654"/>
            <a:ext cx="6452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在每个对应日期中，在以日期</a:t>
            </a:r>
            <a:r>
              <a:rPr lang="en-US" altLang="zh-CN" sz="1400" dirty="0"/>
              <a:t>-1</a:t>
            </a:r>
            <a:r>
              <a:rPr lang="zh-CN" altLang="en-US" sz="1400" dirty="0"/>
              <a:t>，日期</a:t>
            </a:r>
            <a:r>
              <a:rPr lang="en-US" altLang="zh-CN" sz="1400" dirty="0"/>
              <a:t>-2</a:t>
            </a:r>
            <a:r>
              <a:rPr lang="zh-CN" altLang="en-US" sz="1400" dirty="0"/>
              <a:t>等方式保存当日不同次数的实验数据</a:t>
            </a:r>
            <a:endParaRPr lang="en-US" altLang="zh-CN" sz="1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B0996FA-7FBB-4558-87A2-A1FAA6681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848" y="1794580"/>
            <a:ext cx="1695450" cy="1304925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BBD870B9-E6F0-4BA2-A99F-823B589BED52}"/>
              </a:ext>
            </a:extLst>
          </p:cNvPr>
          <p:cNvSpPr/>
          <p:nvPr/>
        </p:nvSpPr>
        <p:spPr>
          <a:xfrm rot="2100665">
            <a:off x="5859713" y="868025"/>
            <a:ext cx="722316" cy="1627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5308C3A-DBF9-45FF-A6A1-A3BDCE2F1C6D}"/>
              </a:ext>
            </a:extLst>
          </p:cNvPr>
          <p:cNvSpPr/>
          <p:nvPr/>
        </p:nvSpPr>
        <p:spPr>
          <a:xfrm rot="1662643">
            <a:off x="7427168" y="1562317"/>
            <a:ext cx="636282" cy="1695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78BA0FB-2856-43BD-829F-E2013F4C0BDD}"/>
              </a:ext>
            </a:extLst>
          </p:cNvPr>
          <p:cNvSpPr txBox="1"/>
          <p:nvPr/>
        </p:nvSpPr>
        <p:spPr>
          <a:xfrm>
            <a:off x="590777" y="2963360"/>
            <a:ext cx="61453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在每次实验后，对网页上的两个图进行截图保存，分别命名为</a:t>
            </a:r>
            <a:r>
              <a:rPr lang="en-US" altLang="zh-CN" sz="1400" dirty="0">
                <a:solidFill>
                  <a:srgbClr val="FF0000"/>
                </a:solidFill>
              </a:rPr>
              <a:t>bandwidth</a:t>
            </a:r>
            <a:r>
              <a:rPr lang="zh-CN" altLang="en-US" sz="1400" dirty="0"/>
              <a:t>和</a:t>
            </a:r>
            <a:r>
              <a:rPr lang="en-US" altLang="zh-CN" sz="1400" dirty="0">
                <a:solidFill>
                  <a:srgbClr val="FF0000"/>
                </a:solidFill>
              </a:rPr>
              <a:t>buffer</a:t>
            </a:r>
            <a:r>
              <a:rPr lang="zh-CN" altLang="en-US" sz="1400" dirty="0"/>
              <a:t>，然后新建一个</a:t>
            </a:r>
            <a:r>
              <a:rPr lang="en-US" altLang="zh-CN" sz="1400" dirty="0">
                <a:solidFill>
                  <a:srgbClr val="FF0000"/>
                </a:solidFill>
              </a:rPr>
              <a:t>logs.txt</a:t>
            </a:r>
            <a:r>
              <a:rPr lang="zh-CN" altLang="en-US" sz="1400" dirty="0"/>
              <a:t>，将</a:t>
            </a:r>
            <a:r>
              <a:rPr lang="en-US" altLang="zh-CN" sz="1400" dirty="0"/>
              <a:t>logs</a:t>
            </a:r>
            <a:r>
              <a:rPr lang="zh-CN" altLang="en-US" sz="1400" dirty="0"/>
              <a:t>都</a:t>
            </a:r>
            <a:r>
              <a:rPr lang="en-US" altLang="zh-CN" sz="1400" dirty="0"/>
              <a:t>copy</a:t>
            </a:r>
            <a:r>
              <a:rPr lang="zh-CN" altLang="en-US" sz="1400" dirty="0"/>
              <a:t>进去并保存。同时再建立一个</a:t>
            </a:r>
            <a:r>
              <a:rPr lang="en-US" altLang="zh-CN" sz="1400" dirty="0"/>
              <a:t>txt</a:t>
            </a:r>
            <a:r>
              <a:rPr lang="zh-CN" altLang="en-US" sz="1400" dirty="0"/>
              <a:t>文本，名称为</a:t>
            </a:r>
            <a:r>
              <a:rPr lang="zh-CN" altLang="en-US" sz="1400" dirty="0">
                <a:solidFill>
                  <a:srgbClr val="FF0000"/>
                </a:solidFill>
              </a:rPr>
              <a:t>说明</a:t>
            </a:r>
            <a:r>
              <a:rPr lang="zh-CN" altLang="en-US" sz="1400" dirty="0"/>
              <a:t>，简明扼要地说明这次实验的情况，比如用的什么方法，什么参数，以及自己的一些评论。以便在日后知道这个文件夹里的数据是在什么情况下得到的。</a:t>
            </a:r>
            <a:endParaRPr lang="en-US" altLang="zh-CN" sz="1400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2DC18C9-BAAE-4450-8FF9-ACB5CB8BD05C}"/>
              </a:ext>
            </a:extLst>
          </p:cNvPr>
          <p:cNvSpPr/>
          <p:nvPr/>
        </p:nvSpPr>
        <p:spPr>
          <a:xfrm>
            <a:off x="421084" y="3067971"/>
            <a:ext cx="118534" cy="118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5B2232C-0D82-4E44-B0D8-6FCB2ACE4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818" y="3057511"/>
            <a:ext cx="3305993" cy="103284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94B2766-53FF-48F5-888E-CF2D615489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84" y="4183188"/>
            <a:ext cx="5461216" cy="253840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82CCFAA-6B6D-4088-99F1-34653675E9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662" y="4183187"/>
            <a:ext cx="5491578" cy="255125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2A4FDB5-CF65-4C92-8EB8-9D191B7AA8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9372" y="218120"/>
            <a:ext cx="1392579" cy="103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53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1303</Words>
  <Application>Microsoft Office PowerPoint</Application>
  <PresentationFormat>宽屏</PresentationFormat>
  <Paragraphs>51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宋 航</dc:creator>
  <cp:lastModifiedBy> </cp:lastModifiedBy>
  <cp:revision>125</cp:revision>
  <dcterms:created xsi:type="dcterms:W3CDTF">2018-06-30T03:27:09Z</dcterms:created>
  <dcterms:modified xsi:type="dcterms:W3CDTF">2018-10-29T11:03:33Z</dcterms:modified>
</cp:coreProperties>
</file>